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399446945242c2" /><Relationship Type="http://schemas.openxmlformats.org/officeDocument/2006/relationships/extended-properties" Target="/docProps/app.xml" Id="R680c08bcd36b473e" /><Relationship Type="http://schemas.openxmlformats.org/officeDocument/2006/relationships/officeDocument" Target="/ppt/presentation.xml" Id="R873e053092764b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69a7a80a984a02"/>
  </p:sldMasterIdLst>
  <p:notesMasterIdLst>
    <p:notesMasterId xmlns:r="http://schemas.openxmlformats.org/officeDocument/2006/relationships" r:id="Reb3ed0cef2e64422"/>
  </p:notesMasterIdLst>
  <p:sldIdLst>
    <p:sldId xmlns:r="http://schemas.openxmlformats.org/officeDocument/2006/relationships" id="256" r:id="R0b90815a6669452e"/>
    <p:sldId xmlns:r="http://schemas.openxmlformats.org/officeDocument/2006/relationships" id="257" r:id="R86893230ad844bc7"/>
    <p:sldId xmlns:r="http://schemas.openxmlformats.org/officeDocument/2006/relationships" id="258" r:id="R5d87f2f876d14456"/>
    <p:sldId xmlns:r="http://schemas.openxmlformats.org/officeDocument/2006/relationships" id="259" r:id="Rb1d2fac9ffd14ec2"/>
    <p:sldId xmlns:r="http://schemas.openxmlformats.org/officeDocument/2006/relationships" id="260" r:id="R52cc4096eb1846d0"/>
    <p:sldId xmlns:r="http://schemas.openxmlformats.org/officeDocument/2006/relationships" id="261" r:id="R1bb8372959b149ad"/>
    <p:sldId xmlns:r="http://schemas.openxmlformats.org/officeDocument/2006/relationships" id="262" r:id="R6d195d86a28b4a6a"/>
    <p:sldId xmlns:r="http://schemas.openxmlformats.org/officeDocument/2006/relationships" id="263" r:id="Rcb21155f0c3143b7"/>
    <p:sldId xmlns:r="http://schemas.openxmlformats.org/officeDocument/2006/relationships" id="264" r:id="R2a21cd6f81ea40cf"/>
    <p:sldId xmlns:r="http://schemas.openxmlformats.org/officeDocument/2006/relationships" id="265" r:id="R42f78cbf7cfe4e22"/>
    <p:sldId xmlns:r="http://schemas.openxmlformats.org/officeDocument/2006/relationships" id="266" r:id="R07a16ab3762742a2"/>
    <p:sldId xmlns:r="http://schemas.openxmlformats.org/officeDocument/2006/relationships" id="267" r:id="Rb66d7455bcc54b23"/>
    <p:sldId xmlns:r="http://schemas.openxmlformats.org/officeDocument/2006/relationships" id="268" r:id="Rccacb7128e6d4faf"/>
    <p:sldId xmlns:r="http://schemas.openxmlformats.org/officeDocument/2006/relationships" id="269" r:id="Rfb171f5d8e4b4c1b"/>
    <p:sldId xmlns:r="http://schemas.openxmlformats.org/officeDocument/2006/relationships" id="270" r:id="Rbbac9b3a053a4f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2a901ec5e049d2" /><Relationship Type="http://schemas.openxmlformats.org/officeDocument/2006/relationships/slideMaster" Target="/ppt/slideMasters/slideMaster1.xml" Id="R4d69a7a80a984a02" /><Relationship Type="http://schemas.openxmlformats.org/officeDocument/2006/relationships/notesMaster" Target="/ppt/notesMasters/notesMaster1.xml" Id="Reb3ed0cef2e64422" /><Relationship Type="http://schemas.openxmlformats.org/officeDocument/2006/relationships/presProps" Target="/ppt/presProps.xml" Id="R421b7d2faff243d8" /><Relationship Type="http://schemas.openxmlformats.org/officeDocument/2006/relationships/tableStyles" Target="/ppt/tableStyles.xml" Id="Rd0af4d0306df4551" /><Relationship Type="http://schemas.openxmlformats.org/officeDocument/2006/relationships/slide" Target="/ppt/slides/slide1.xml" Id="R0b90815a6669452e" /><Relationship Type="http://schemas.openxmlformats.org/officeDocument/2006/relationships/slide" Target="/ppt/slides/slide2.xml" Id="R86893230ad844bc7" /><Relationship Type="http://schemas.openxmlformats.org/officeDocument/2006/relationships/slide" Target="/ppt/slides/slide3.xml" Id="R5d87f2f876d14456" /><Relationship Type="http://schemas.openxmlformats.org/officeDocument/2006/relationships/slide" Target="/ppt/slides/slide4.xml" Id="Rb1d2fac9ffd14ec2" /><Relationship Type="http://schemas.openxmlformats.org/officeDocument/2006/relationships/slide" Target="/ppt/slides/slide5.xml" Id="R52cc4096eb1846d0" /><Relationship Type="http://schemas.openxmlformats.org/officeDocument/2006/relationships/slide" Target="/ppt/slides/slide6.xml" Id="R1bb8372959b149ad" /><Relationship Type="http://schemas.openxmlformats.org/officeDocument/2006/relationships/slide" Target="/ppt/slides/slide7.xml" Id="R6d195d86a28b4a6a" /><Relationship Type="http://schemas.openxmlformats.org/officeDocument/2006/relationships/slide" Target="/ppt/slides/slide8.xml" Id="Rcb21155f0c3143b7" /><Relationship Type="http://schemas.openxmlformats.org/officeDocument/2006/relationships/slide" Target="/ppt/slides/slide9.xml" Id="R2a21cd6f81ea40cf" /><Relationship Type="http://schemas.openxmlformats.org/officeDocument/2006/relationships/slide" Target="/ppt/slides/slide10.xml" Id="R42f78cbf7cfe4e22" /><Relationship Type="http://schemas.openxmlformats.org/officeDocument/2006/relationships/slide" Target="/ppt/slides/slide11.xml" Id="R07a16ab3762742a2" /><Relationship Type="http://schemas.openxmlformats.org/officeDocument/2006/relationships/slide" Target="/ppt/slides/slide12.xml" Id="Rb66d7455bcc54b23" /><Relationship Type="http://schemas.openxmlformats.org/officeDocument/2006/relationships/slide" Target="/ppt/slides/slide13.xml" Id="Rccacb7128e6d4faf" /><Relationship Type="http://schemas.openxmlformats.org/officeDocument/2006/relationships/slide" Target="/ppt/slides/slide14.xml" Id="Rfb171f5d8e4b4c1b" /><Relationship Type="http://schemas.openxmlformats.org/officeDocument/2006/relationships/slide" Target="/ppt/slides/slide15.xml" Id="Rbbac9b3a053a4f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07236fe8c6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f0c8ed164e4818" /><Relationship Type="http://schemas.openxmlformats.org/officeDocument/2006/relationships/notesMaster" Target="/ppt/notesMasters/notesMaster1.xml" Id="R97f712de30714a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dd2d59b74a48a0" /><Relationship Type="http://schemas.openxmlformats.org/officeDocument/2006/relationships/notesMaster" Target="/ppt/notesMasters/notesMaster1.xml" Id="R1fc705796ffc4d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3ed90fe9954305" /><Relationship Type="http://schemas.openxmlformats.org/officeDocument/2006/relationships/notesMaster" Target="/ppt/notesMasters/notesMaster1.xml" Id="R4e3148f4a22f49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c073039f804ebb" /><Relationship Type="http://schemas.openxmlformats.org/officeDocument/2006/relationships/notesMaster" Target="/ppt/notesMasters/notesMaster1.xml" Id="R1ebdff054c3e4d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929f1114c84f50" /><Relationship Type="http://schemas.openxmlformats.org/officeDocument/2006/relationships/notesMaster" Target="/ppt/notesMasters/notesMaster1.xml" Id="R0078ff839e9e45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60d13da4454f16" /><Relationship Type="http://schemas.openxmlformats.org/officeDocument/2006/relationships/notesMaster" Target="/ppt/notesMasters/notesMaster1.xml" Id="Rc571cf0c055449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83f93db3f64ae8" /><Relationship Type="http://schemas.openxmlformats.org/officeDocument/2006/relationships/notesMaster" Target="/ppt/notesMasters/notesMaster1.xml" Id="Re0f687d5969045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7e6f272fe74021" /><Relationship Type="http://schemas.openxmlformats.org/officeDocument/2006/relationships/notesMaster" Target="/ppt/notesMasters/notesMaster1.xml" Id="R2e1c36237b8149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29d89dcd614cae" /><Relationship Type="http://schemas.openxmlformats.org/officeDocument/2006/relationships/notesMaster" Target="/ppt/notesMasters/notesMaster1.xml" Id="R196cbac0c44d41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252dc984b94686" /><Relationship Type="http://schemas.openxmlformats.org/officeDocument/2006/relationships/notesMaster" Target="/ppt/notesMasters/notesMaster1.xml" Id="R3e69be898f594b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bf8a58d055420f" /><Relationship Type="http://schemas.openxmlformats.org/officeDocument/2006/relationships/notesMaster" Target="/ppt/notesMasters/notesMaster1.xml" Id="Rfc182f2e4ef14b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707797445f4b67" /><Relationship Type="http://schemas.openxmlformats.org/officeDocument/2006/relationships/notesMaster" Target="/ppt/notesMasters/notesMaster1.xml" Id="R5edeb3531f2240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5deee0caf944e1" /><Relationship Type="http://schemas.openxmlformats.org/officeDocument/2006/relationships/notesMaster" Target="/ppt/notesMasters/notesMaster1.xml" Id="R91153dc309854a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025b06684c44df" /><Relationship Type="http://schemas.openxmlformats.org/officeDocument/2006/relationships/notesMaster" Target="/ppt/notesMasters/notesMaster1.xml" Id="R3a23df88a25d45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47f6ba9f31448e" /><Relationship Type="http://schemas.openxmlformats.org/officeDocument/2006/relationships/notesMaster" Target="/ppt/notesMasters/notesMaster1.xml" Id="Ree1ec4afa0674f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operating fact: this is not a chatbot. It can release or reject purchase orders and submit vendor forms.</a:t>
            </a:r>
          </a:p>
          <a:p xmlns:a="http://schemas.openxmlformats.org/drawingml/2006/main">
            <a:r>
              <a:t>The job of the design is to preserve the speed of autonomy while making unsafe action impossible by architecture.</a:t>
            </a:r>
          </a:p>
          <a:p xmlns:a="http://schemas.openxmlformats.org/drawingml/2006/main">
            <a:r>
              <a:t>Cover visual was generated with OpenAI image generation for this deck; no external visual asset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single architectural principle that connects all four pillars.</a:t>
            </a:r>
          </a:p>
          <a:p xmlns:a="http://schemas.openxmlformats.org/drawingml/2006/main">
            <a:r>
              <a:t>A prompt is helpful UX, not an enforcement mechanism. The system defaults to deny for high-risk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audience through the actual agent topology from the case study.</a:t>
            </a:r>
          </a:p>
          <a:p xmlns:a="http://schemas.openxmlformats.org/drawingml/2006/main">
            <a:r>
              <a:t>Point out that the frontend mixes mostly read tools with a few likely write tools, while the backend decides and sub-agents execute.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gaps confidently. It demonstrates that the design responds to the system, not to a generic security checklist.</a:t>
            </a:r>
          </a:p>
          <a:p xmlns:a="http://schemas.openxmlformats.org/drawingml/2006/main">
            <a:r>
              <a:t>The next four sections map one-to-one to the requested pillars and their evaluation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trace_id/run_id distinction: technical traces expire, the business audit key does not.</a:t>
            </a:r>
          </a:p>
          <a:p xmlns:a="http://schemas.openxmlformats.org/drawingml/2006/main">
            <a:r>
              <a:t>All writes, errors, guardrail trips and approvals are sampled at 100%; routine read chatter can be sampled.</a:t>
            </a:r>
          </a:p>
          <a:p xmlns:a="http://schemas.openxmlformats.org/drawingml/2006/main">
            <a:r>
              <a:t>The semantic record answers why, not just what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malicious vendor document can be an indirect prompt injection. Sanitization is therefore a security control before embeddings are created.</a:t>
            </a:r>
          </a:p>
          <a:p xmlns:a="http://schemas.openxmlformats.org/drawingml/2006/main">
            <a:r>
              <a:t>RLS is the primary isolation control, backed by tenant / BU context, sensitivity and separate roles.</a:t>
            </a:r>
          </a:p>
          <a:p xmlns:a="http://schemas.openxmlformats.org/drawingml/2006/main">
            <a:r>
              <a:t>Working, session and long-term memory have TTLs; audit data is not memory and is retained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autonomy ladder belongs in a versioned tool manifest, not in the model prompt.</a:t>
            </a:r>
          </a:p>
          <a:p xmlns:a="http://schemas.openxmlformats.org/drawingml/2006/main">
            <a:r>
              <a:t>For scheduled runs, the allowed write tier is stricter: the job can prepare and park an action, but cannot self-approve it.</a:t>
            </a:r>
          </a:p>
          <a:p xmlns:a="http://schemas.openxmlformats.org/drawingml/2006/main">
            <a:r>
              <a:t>The policy is evaluated before any tool call, so it is unbypassable by a reasoning error or jailbreak.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approval is durable and asynchronous. Return 202 to the original caller and release compute while Workflows waits for the callback.</a:t>
            </a:r>
          </a:p>
          <a:p xmlns:a="http://schemas.openxmlformats.org/drawingml/2006/main">
            <a:r>
              <a:t>The key security property is approve-small / execute-large prevention: the signed token binds arguments_hash and ui_render_hash to the exact state the human saw.</a:t>
            </a:r>
          </a:p>
          <a:p xmlns:a="http://schemas.openxmlformats.org/drawingml/2006/main">
            <a:r>
              <a:t>Cloud Tasks provides throttling and idempotent side effects at execution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design choice is to treat a vendor response or retrieved document exactly like an untrusted user input before it reaches the model.</a:t>
            </a:r>
          </a:p>
          <a:p xmlns:a="http://schemas.openxmlformats.org/drawingml/2006/main">
            <a:r>
              <a:t>The input chain uses schema validation, Unicode normalization, Model Armor, DLP and intent allow-lists. Output checks include business invariants.</a:t>
            </a:r>
          </a:p>
          <a:p xmlns:a="http://schemas.openxmlformats.org/drawingml/2006/main">
            <a:r>
              <a:t>Writes fail closed. If a read-only guardrail is unavailable, the system can still provide a safe degraded read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answer that only tests final textual output is insufficient; the agent must be evaluated on its tool-calling trajectory.</a:t>
            </a:r>
          </a:p>
          <a:p xmlns:a="http://schemas.openxmlformats.org/drawingml/2006/main">
            <a:r>
              <a:t>The red-team suite is a blocking gate and runs against mocked SAP and vendor endpoints, never production write systems.</a:t>
            </a:r>
          </a:p>
          <a:p xmlns:a="http://schemas.openxmlformats.org/drawingml/2006/main">
            <a:r>
              <a:t>Reversal rate and cost per resolved PO are especially valuable because they surface approval quality and actual unit economics.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consolidated service map. Use it to show each GCP choice is purposeful rather than a catalog of products.</a:t>
            </a:r>
          </a:p>
          <a:p xmlns:a="http://schemas.openxmlformats.org/drawingml/2006/main">
            <a:r>
              <a:t>Cloud Run is retained because it matches the as-drawn design, while adding native controls around it.</a:t>
            </a:r>
          </a:p>
          <a:p xmlns:a="http://schemas.openxmlformats.org/drawingml/2006/main">
            <a:r>
              <a:t>VPC Service Controls and egress restrictions cap exfiltration even if an upstream component fails.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launch with write autonomy. First establish identity, audit, containment and idempotency.</a:t>
            </a:r>
          </a:p>
          <a:p xmlns:a="http://schemas.openxmlformats.org/drawingml/2006/main">
            <a:r>
              <a:t>Only after the knowledge and approval controls are working should the organisation expand autonomy tiers.</a:t>
            </a:r>
          </a:p>
          <a:p xmlns:a="http://schemas.openxmlformats.org/drawingml/2006/main">
            <a:r>
              <a:t>The release gates in Phase 6 make the improvement loop durable.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closes the implementation portion with acceptance tests that an engineering team can actually run.</a:t>
            </a:r>
          </a:p>
          <a:p xmlns:a="http://schemas.openxmlformats.org/drawingml/2006/main">
            <a:r>
              <a:t>It makes a useful transition from architecture into the interview or stakeholder discussion: these are the conditions under which you would approve production rollout.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central principle: the model plans; the platform enforces.</a:t>
            </a:r>
          </a:p>
          <a:p xmlns:a="http://schemas.openxmlformats.org/drawingml/2006/main">
            <a:r>
              <a:t>Invite questions about the control they want to examine in detail: traceability, RAG, approval flow or evaluation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deliberate Q&amp;A slide, not a generic thank-you. It anticipates the challenge questions documented in the implementation notes.</a:t>
            </a:r>
          </a:p>
          <a:p xmlns:a="http://schemas.openxmlformats.org/drawingml/2006/main">
            <a:r>
              <a:t>If time is tight, leave this after slide 14 and use it only for discussion.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Case Study Scenario (resume.pdf)</a:t>
            </a:r>
          </a:p>
          <a:p xmlns:a="http://schemas.openxmlformats.org/drawingml/2006/main">
            <a:r>
              <a:t>- User-provided implementation notes (Readme.md)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b586e38fc4f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b4f2b9f6a84bfe" /><Relationship Type="http://schemas.openxmlformats.org/officeDocument/2006/relationships/slideLayout" Target="/ppt/slideLayouts/slideLayout1.xml" Id="Rab9f2617f82f4b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9f2617f82f4b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0511c7ca14fdb" /><Relationship Type="http://schemas.openxmlformats.org/officeDocument/2006/relationships/image" Target="/ppt/media/image.png" Id="Re85b692c9f994fe5" /><Relationship Type="http://schemas.openxmlformats.org/officeDocument/2006/relationships/notesSlide" Target="/ppt/notesSlides/notesSlide1.xml" Id="R48491627efbc4a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efdf2ad824d1e" /><Relationship Type="http://schemas.openxmlformats.org/officeDocument/2006/relationships/notesSlide" Target="/ppt/notesSlides/notesSlide2.xml" Id="Rbbc64d30a3df41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abf721cb94c1c" /><Relationship Type="http://schemas.openxmlformats.org/officeDocument/2006/relationships/notesSlide" Target="/ppt/notesSlides/notesSlide3.xml" Id="Rbbf1e0af6d8c42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119a12fc646b5" /><Relationship Type="http://schemas.openxmlformats.org/officeDocument/2006/relationships/notesSlide" Target="/ppt/notesSlides/notesSlide4.xml" Id="Re8d9d0a3198d41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074fd1a8343c1" /><Relationship Type="http://schemas.openxmlformats.org/officeDocument/2006/relationships/notesSlide" Target="/ppt/notesSlides/notesSlide5.xml" Id="R8d4ec04e03c849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b6c8297024f58" /><Relationship Type="http://schemas.openxmlformats.org/officeDocument/2006/relationships/notesSlide" Target="/ppt/notesSlides/notesSlide6.xml" Id="Rfe22086fa9e847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b301d723447a9" /><Relationship Type="http://schemas.openxmlformats.org/officeDocument/2006/relationships/notesSlide" Target="/ppt/notesSlides/notesSlide7.xml" Id="R762455d368854e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fd875cb7f4a27" /><Relationship Type="http://schemas.openxmlformats.org/officeDocument/2006/relationships/notesSlide" Target="/ppt/notesSlides/notesSlide8.xml" Id="Rae79dcd221d24d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3af3c29c946f9" /><Relationship Type="http://schemas.openxmlformats.org/officeDocument/2006/relationships/notesSlide" Target="/ppt/notesSlides/notesSlide9.xml" Id="Raa53327d56d843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4d5b03afc48b9" /><Relationship Type="http://schemas.openxmlformats.org/officeDocument/2006/relationships/notesSlide" Target="/ppt/notesSlides/notesSlide10.xml" Id="R5b7e1f5f1a604b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222a0b6944055" /><Relationship Type="http://schemas.openxmlformats.org/officeDocument/2006/relationships/notesSlide" Target="/ppt/notesSlides/notesSlide11.xml" Id="R32a43e6e6b1b4a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5aef017dd4c55" /><Relationship Type="http://schemas.openxmlformats.org/officeDocument/2006/relationships/notesSlide" Target="/ppt/notesSlides/notesSlide12.xml" Id="Ree13d1978f924e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2fff76b5a4d7e" /><Relationship Type="http://schemas.openxmlformats.org/officeDocument/2006/relationships/notesSlide" Target="/ppt/notesSlides/notesSlide13.xml" Id="R094f01d4b3cf4f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b73921b184e76" /><Relationship Type="http://schemas.openxmlformats.org/officeDocument/2006/relationships/notesSlide" Target="/ppt/notesSlides/notesSlide14.xml" Id="R590a65bb901341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d6a4a5a1f496c" /><Relationship Type="http://schemas.openxmlformats.org/officeDocument/2006/relationships/notesSlide" Target="/ppt/notesSlides/notesSlide15.xml" Id="R3e8599c0100e46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left">
            <a:extLst xmlns:a="http://schemas.openxmlformats.org/drawingml/2006/main">
              <a:ext uri="{FF2B5EF4-FFF2-40B4-BE49-F238E27FC236}">
                <a16:creationId xmlns:a16="http://schemas.microsoft.com/office/drawing/2014/main" id="{4AFD9AEC-4368-4346-A314-2F1416B0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b692c9f994fe5"/>
          <a:srcRect xmlns:a="http://schemas.openxmlformats.org/drawingml/2006/main" l="0" t="18343" r="0" b="18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285750"/>
            <a:ext cx="5334000" cy="600075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7E00894-2068-4CA9-9C7E-758B193A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</a:defRPr>
            </a:pPr>
            <a:r>
              <a:rPr sz="1125" b="1">
                <a:solidFill>
                  <a:srgbClr val="6DCBF4"/>
                </a:solidFill>
              </a:rPr>
              <a:t>PRODUCTION GOVERNANCE ON GOOGLE CLOUD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D019A6C-F059-427B-954D-1B105B3E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5476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Purchase Order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07F391C-E836-4679-A856-F7DD230D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8D9EC"/>
                </a:solidFill>
              </a:defRPr>
            </a:pPr>
            <a:r>
              <a:rPr sz="1950" b="0">
                <a:solidFill>
                  <a:srgbClr val="C8D9EC"/>
                </a:solidFill>
              </a:rPr>
              <a:t>A production design for safe, auditable autonomy across SAP and vendor portals.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BAA300B-C6B5-4AD5-BF04-4EC3B4DD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483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C326B1B-38AF-4229-98D7-AC747468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1C4D9"/>
                </a:solidFill>
              </a:defRPr>
            </a:pPr>
            <a:r>
              <a:rPr sz="1275" b="1">
                <a:solidFill>
                  <a:srgbClr val="B1C4D9"/>
                </a:solidFill>
              </a:rPr>
              <a:t>Case study response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F788120-8501-4D5F-973A-1307002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4D9"/>
                </a:solidFill>
              </a:defRPr>
            </a:pPr>
            <a:r>
              <a:rPr sz="1275" b="0">
                <a:solidFill>
                  <a:srgbClr val="B1C4D9"/>
                </a:solidFill>
              </a:rPr>
              <a:t>Runtime controls | governed knowledge | human approval | continuous assurance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AEB7D3-1E25-42EE-8388-2EAFBF97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0A6BE"/>
                </a:solidFill>
              </a:defRPr>
            </a:pPr>
            <a:r>
              <a:rPr sz="825" b="1">
                <a:solidFill>
                  <a:srgbClr val="90A6BE"/>
                </a:solidFill>
              </a:rPr>
              <a:t>PO AGENT GOVERNANCE | CASE STUDY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120612-320A-4795-8AEC-8FE4CF13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0A6BE"/>
                </a:solidFill>
              </a:defRPr>
            </a:pPr>
            <a:r>
              <a:rPr sz="825" b="1">
                <a:solidFill>
                  <a:srgbClr val="90A6B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1775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2BC671A-8D5B-4CCE-90C9-EC2986E2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EXECUTIVE THESIS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703EC1-D210-47A3-B8A3-A16507E4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The model plans. Deterministic systems enforce.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DCDB15-5097-4B63-8418-030AD7EE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Every safety property lives outside the prompt: in code, policy, IAM, database constraints, and cryptographic controls.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142A370-57C5-471B-9864-509FC548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5B8749-7C7B-4867-A9E6-927D99BA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8476B7-AD87-4BBF-90DE-6C29543C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A30C684-785D-4BF6-9074-5EE6C428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PLAN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E5E916-1CDE-48D3-AE94-5CCC360F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8"/>
                </a:solidFill>
              </a:defRPr>
            </a:pPr>
            <a:r>
              <a:rPr sz="2325" b="1">
                <a:solidFill>
                  <a:srgbClr val="102338"/>
                </a:solidFill>
              </a:rPr>
              <a:t>Agent chooses a next best action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1577EF83-6754-49FD-AD1F-AD4359A6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D285176-AB4A-4ACF-B32A-FA5D2433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The LLM can reason and recommend, but it cannot grant itself authority.</a:t>
            </a:r>
          </a:p>
        </p:txBody>
      </p:sp>
      <p:sp>
        <p:nvSpPr>
          <p:cNvPr id="11" name="flow-arrow">
            <a:extLst xmlns:a="http://schemas.openxmlformats.org/drawingml/2006/main">
              <a:ext uri="{FF2B5EF4-FFF2-40B4-BE49-F238E27FC236}">
                <a16:creationId xmlns:a16="http://schemas.microsoft.com/office/drawing/2014/main" id="{6F4DDA6C-2A7F-4ECE-9C86-5496524C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90850"/>
            <a:ext cx="15240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BEA5562-B0F9-4C67-A2F8-8A188573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ENFORCE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7F4B395-E830-46C7-B069-25088C9C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33675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3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8"/>
                </a:solidFill>
              </a:defRPr>
            </a:pPr>
            <a:r>
              <a:rPr sz="2325" b="1">
                <a:solidFill>
                  <a:srgbClr val="102338"/>
                </a:solidFill>
              </a:rPr>
              <a:t>Policy decides whether it may happen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FE01C001-DBE1-401C-8EF8-65C9676D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3855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ircle">
            <a:extLst xmlns:a="http://schemas.openxmlformats.org/drawingml/2006/main">
              <a:ext uri="{FF2B5EF4-FFF2-40B4-BE49-F238E27FC236}">
                <a16:creationId xmlns:a16="http://schemas.microsoft.com/office/drawing/2014/main" id="{40B27182-1DB2-45B1-9A0F-9EB14505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bullet">
            <a:extLst xmlns:a="http://schemas.openxmlformats.org/drawingml/2006/main">
              <a:ext uri="{FF2B5EF4-FFF2-40B4-BE49-F238E27FC236}">
                <a16:creationId xmlns:a16="http://schemas.microsoft.com/office/drawing/2014/main" id="{E0A4521F-906A-4E4E-A6AA-0B942F51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Budget and loop breakers</a:t>
            </a:r>
          </a:p>
        </p:txBody>
      </p:sp>
      <p:sp>
        <p:nvSpPr>
          <p:cNvPr id="17" name="circle">
            <a:extLst xmlns:a="http://schemas.openxmlformats.org/drawingml/2006/main">
              <a:ext uri="{FF2B5EF4-FFF2-40B4-BE49-F238E27FC236}">
                <a16:creationId xmlns:a16="http://schemas.microsoft.com/office/drawing/2014/main" id="{11D24BF4-7F99-4E8B-B8E5-56E1C80A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71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bullet">
            <a:extLst xmlns:a="http://schemas.openxmlformats.org/drawingml/2006/main">
              <a:ext uri="{FF2B5EF4-FFF2-40B4-BE49-F238E27FC236}">
                <a16:creationId xmlns:a16="http://schemas.microsoft.com/office/drawing/2014/main" id="{C6FD8FD6-A4D8-4370-8A3D-50346B4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33875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RLS and data classification</a:t>
            </a:r>
          </a:p>
        </p:txBody>
      </p:sp>
      <p:sp>
        <p:nvSpPr>
          <p:cNvPr id="19" name="circle">
            <a:extLst xmlns:a="http://schemas.openxmlformats.org/drawingml/2006/main">
              <a:ext uri="{FF2B5EF4-FFF2-40B4-BE49-F238E27FC236}">
                <a16:creationId xmlns:a16="http://schemas.microsoft.com/office/drawing/2014/main" id="{81665C7B-8148-4593-9AA8-4208A7D9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81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bullet">
            <a:extLst xmlns:a="http://schemas.openxmlformats.org/drawingml/2006/main">
              <a:ext uri="{FF2B5EF4-FFF2-40B4-BE49-F238E27FC236}">
                <a16:creationId xmlns:a16="http://schemas.microsoft.com/office/drawing/2014/main" id="{62D7D8C4-1451-4647-9A04-C8580D26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43450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HITL and signed approval tokens</a:t>
            </a:r>
          </a:p>
        </p:txBody>
      </p:sp>
      <p:sp>
        <p:nvSpPr>
          <p:cNvPr id="21" name="circle">
            <a:extLst xmlns:a="http://schemas.openxmlformats.org/drawingml/2006/main">
              <a:ext uri="{FF2B5EF4-FFF2-40B4-BE49-F238E27FC236}">
                <a16:creationId xmlns:a16="http://schemas.microsoft.com/office/drawing/2014/main" id="{9E8D6417-3ECA-4C4A-B61E-1B31EC8E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91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bullet">
            <a:extLst xmlns:a="http://schemas.openxmlformats.org/drawingml/2006/main">
              <a:ext uri="{FF2B5EF4-FFF2-40B4-BE49-F238E27FC236}">
                <a16:creationId xmlns:a16="http://schemas.microsoft.com/office/drawing/2014/main" id="{990E409F-BDF4-40B4-BA79-90EBB584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53025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Guardrails and release gates</a:t>
            </a:r>
          </a:p>
        </p:txBody>
      </p:sp>
    </p:spTree>
    <p:extLst>
      <p:ext uri="{BB962C8B-B14F-4D97-AF65-F5344CB8AC3E}">
        <p14:creationId xmlns:p14="http://schemas.microsoft.com/office/powerpoint/2010/main" val="120904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2B92CEE-2DCC-477E-98C7-0E247FDC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CONTEXT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7854DB-1BA5-4387-8AFD-9B6EA815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The PO agent is an economic actor, not a chat interface.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6D1EA0-31F3-4700-965A-F375FCCA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A wrong write can create financial loss, supplier friction, or an audit finding.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53BEA5F-F465-45A0-8C9B-D7DE7298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939ABA5-2816-4660-A359-4243E800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7F6625-7F7F-4A92-A2E3-F937E8D8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03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50D4E79B-9D4A-4B99-AD81-C01F2644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43250"/>
            <a:ext cx="762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75BABA18-D6AB-4432-AA96-BBCB7AFB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43250"/>
            <a:ext cx="762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0EA516D7-27F4-4BCD-A8E9-99C604E7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43250"/>
            <a:ext cx="762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node">
            <a:extLst xmlns:a="http://schemas.openxmlformats.org/drawingml/2006/main">
              <a:ext uri="{FF2B5EF4-FFF2-40B4-BE49-F238E27FC236}">
                <a16:creationId xmlns:a16="http://schemas.microsoft.com/office/drawing/2014/main" id="{DFCBC0BB-F302-436B-92A8-40D02999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47950"/>
            <a:ext cx="2095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1" name="node-accent">
            <a:extLst xmlns:a="http://schemas.openxmlformats.org/drawingml/2006/main">
              <a:ext uri="{FF2B5EF4-FFF2-40B4-BE49-F238E27FC236}">
                <a16:creationId xmlns:a16="http://schemas.microsoft.com/office/drawing/2014/main" id="{65E21F6F-F486-4AF4-A9C8-41B5B82F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479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de-label">
            <a:extLst xmlns:a="http://schemas.openxmlformats.org/drawingml/2006/main">
              <a:ext uri="{FF2B5EF4-FFF2-40B4-BE49-F238E27FC236}">
                <a16:creationId xmlns:a16="http://schemas.microsoft.com/office/drawing/2014/main" id="{5EBAAE3F-641A-48F9-9609-8A97B20E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Buyer / scheduler</a:t>
            </a:r>
          </a:p>
        </p:txBody>
      </p:sp>
      <p:sp>
        <p:nvSpPr>
          <p:cNvPr id="13" name="node-sub">
            <a:extLst xmlns:a="http://schemas.openxmlformats.org/drawingml/2006/main">
              <a:ext uri="{FF2B5EF4-FFF2-40B4-BE49-F238E27FC236}">
                <a16:creationId xmlns:a16="http://schemas.microsoft.com/office/drawing/2014/main" id="{74B97899-7D2E-4D6A-B923-D23D08E4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User turn or unattended batch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AD9FEBA0-D75E-4A22-97CB-32274BCA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47950"/>
            <a:ext cx="17716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5" name="node-accent">
            <a:extLst xmlns:a="http://schemas.openxmlformats.org/drawingml/2006/main">
              <a:ext uri="{FF2B5EF4-FFF2-40B4-BE49-F238E27FC236}">
                <a16:creationId xmlns:a16="http://schemas.microsoft.com/office/drawing/2014/main" id="{E6503B83-0A10-4FFA-A41C-5299523A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479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label">
            <a:extLst xmlns:a="http://schemas.openxmlformats.org/drawingml/2006/main">
              <a:ext uri="{FF2B5EF4-FFF2-40B4-BE49-F238E27FC236}">
                <a16:creationId xmlns:a16="http://schemas.microsoft.com/office/drawing/2014/main" id="{54DD401C-F6C3-4AB7-86F6-05D77D5D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03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Frontend agent</a:t>
            </a:r>
          </a:p>
        </p:txBody>
      </p:sp>
      <p:sp>
        <p:nvSpPr>
          <p:cNvPr id="17" name="node-sub">
            <a:extLst xmlns:a="http://schemas.openxmlformats.org/drawingml/2006/main">
              <a:ext uri="{FF2B5EF4-FFF2-40B4-BE49-F238E27FC236}">
                <a16:creationId xmlns:a16="http://schemas.microsoft.com/office/drawing/2014/main" id="{1049DBB9-D853-4745-85B8-6DC2C0C3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051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Conversation and read tools</a:t>
            </a:r>
          </a:p>
        </p:txBody>
      </p:sp>
      <p:sp>
        <p:nvSpPr>
          <p:cNvPr id="18" name="node">
            <a:extLst xmlns:a="http://schemas.openxmlformats.org/drawingml/2006/main">
              <a:ext uri="{FF2B5EF4-FFF2-40B4-BE49-F238E27FC236}">
                <a16:creationId xmlns:a16="http://schemas.microsoft.com/office/drawing/2014/main" id="{18E7F171-0960-4D9C-89E7-EFC1A1A3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47950"/>
            <a:ext cx="17716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9" name="node-accent">
            <a:extLst xmlns:a="http://schemas.openxmlformats.org/drawingml/2006/main">
              <a:ext uri="{FF2B5EF4-FFF2-40B4-BE49-F238E27FC236}">
                <a16:creationId xmlns:a16="http://schemas.microsoft.com/office/drawing/2014/main" id="{2D405CC5-50F3-4EBA-8690-0EE85C42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479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ode-label">
            <a:extLst xmlns:a="http://schemas.openxmlformats.org/drawingml/2006/main">
              <a:ext uri="{FF2B5EF4-FFF2-40B4-BE49-F238E27FC236}">
                <a16:creationId xmlns:a16="http://schemas.microsoft.com/office/drawing/2014/main" id="{1CDAFB82-43EB-4D73-A2D0-09993757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ADK orchestrator</a:t>
            </a:r>
          </a:p>
        </p:txBody>
      </p:sp>
      <p:sp>
        <p:nvSpPr>
          <p:cNvPr id="21" name="node-sub">
            <a:extLst xmlns:a="http://schemas.openxmlformats.org/drawingml/2006/main">
              <a:ext uri="{FF2B5EF4-FFF2-40B4-BE49-F238E27FC236}">
                <a16:creationId xmlns:a16="http://schemas.microsoft.com/office/drawing/2014/main" id="{F3CA4AC3-9CAF-4D31-917B-FCC4C1EC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051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Plans, delegates, records state</a:t>
            </a:r>
          </a:p>
        </p:txBody>
      </p:sp>
      <p:sp>
        <p:nvSpPr>
          <p:cNvPr id="22" name="node">
            <a:extLst xmlns:a="http://schemas.openxmlformats.org/drawingml/2006/main">
              <a:ext uri="{FF2B5EF4-FFF2-40B4-BE49-F238E27FC236}">
                <a16:creationId xmlns:a16="http://schemas.microsoft.com/office/drawing/2014/main" id="{75C77260-93CD-4FE8-ABF1-1745431D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66950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6F7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3" name="node-accent">
            <a:extLst xmlns:a="http://schemas.openxmlformats.org/drawingml/2006/main">
              <a:ext uri="{FF2B5EF4-FFF2-40B4-BE49-F238E27FC236}">
                <a16:creationId xmlns:a16="http://schemas.microsoft.com/office/drawing/2014/main" id="{10996BCA-D345-4166-9CE9-46B5E9AB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669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ode-label">
            <a:extLst xmlns:a="http://schemas.openxmlformats.org/drawingml/2006/main">
              <a:ext uri="{FF2B5EF4-FFF2-40B4-BE49-F238E27FC236}">
                <a16:creationId xmlns:a16="http://schemas.microsoft.com/office/drawing/2014/main" id="{001D43A4-3CD9-428B-8206-05AE47D3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193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Side-effecting systems</a:t>
            </a:r>
          </a:p>
        </p:txBody>
      </p:sp>
      <p:sp>
        <p:nvSpPr>
          <p:cNvPr id="25" name="node-sub">
            <a:extLst xmlns:a="http://schemas.openxmlformats.org/drawingml/2006/main">
              <a:ext uri="{FF2B5EF4-FFF2-40B4-BE49-F238E27FC236}">
                <a16:creationId xmlns:a16="http://schemas.microsoft.com/office/drawing/2014/main" id="{B3FE5862-65B5-4E57-8891-72BEEC3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724150"/>
            <a:ext cx="2552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SAP release / reject</a:t>
            </a:r>
          </a:p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Vendor portal submission</a:t>
            </a:r>
          </a:p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Notification delivery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0308DE0-5EEE-4DF4-850F-8F5CC7F1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006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338"/>
                </a:solidFill>
              </a:defRPr>
            </a:pPr>
            <a:r>
              <a:rPr sz="2175" b="1">
                <a:solidFill>
                  <a:srgbClr val="102338"/>
                </a:solidFill>
              </a:rPr>
              <a:t>Governance must follow the action all the way to the write path.</a:t>
            </a:r>
          </a:p>
        </p:txBody>
      </p:sp>
    </p:spTree>
    <p:extLst>
      <p:ext uri="{BB962C8B-B14F-4D97-AF65-F5344CB8AC3E}">
        <p14:creationId xmlns:p14="http://schemas.microsoft.com/office/powerpoint/2010/main" val="1102731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2561781-1271-4EB7-9ED2-AB31115B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DESIGN STARTING POINT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5704CB-2F75-4D49-8B43-7C966B42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8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Seven missing controls collapse into four governance pillars.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6F93B9E-63F6-47C2-A930-54E27119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The as-drawn architecture needs safety checkpoints at every stage of the agent loop.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3756341-016D-4F6C-AD42-5BC37BAF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79AC10-F066-4872-917D-72649193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1EF303-F419-4752-BCCD-4F42E69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04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C8536E9-35C6-4ACB-84EB-7BF33656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33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GAP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CF276C-14F6-4626-98B7-C56B057B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52650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CONTROL</a:t>
            </a:r>
          </a:p>
        </p:txBody>
      </p:sp>
      <p:sp>
        <p:nvSpPr>
          <p:cNvPr id="9" name="gap">
            <a:extLst xmlns:a="http://schemas.openxmlformats.org/drawingml/2006/main">
              <a:ext uri="{FF2B5EF4-FFF2-40B4-BE49-F238E27FC236}">
                <a16:creationId xmlns:a16="http://schemas.microsoft.com/office/drawing/2014/main" id="{CC0D1FA6-183F-48AC-AE6A-B5BFDC3F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0" name="gap-marker">
            <a:extLst xmlns:a="http://schemas.openxmlformats.org/drawingml/2006/main">
              <a:ext uri="{FF2B5EF4-FFF2-40B4-BE49-F238E27FC236}">
                <a16:creationId xmlns:a16="http://schemas.microsoft.com/office/drawing/2014/main" id="{E6E011CC-8126-4661-9F90-D07A8769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4933822-58D9-43BC-BB04-D6D54D8D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No approval pause/resume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1148EDD4-E80D-44FE-AFE2-A10791F0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374A"/>
          </a:solidFill>
          <a:ln xmlns:a="http://schemas.openxmlformats.org/drawingml/2006/main" w="0">
            <a:solidFill>
              <a:srgbClr val="B7374A"/>
            </a:solidFill>
            <a:prstDash val="solid"/>
          </a:ln>
        </p:spPr>
      </p:sp>
      <p:sp>
        <p:nvSpPr>
          <p:cNvPr id="13" name="control">
            <a:extLst xmlns:a="http://schemas.openxmlformats.org/drawingml/2006/main">
              <a:ext uri="{FF2B5EF4-FFF2-40B4-BE49-F238E27FC236}">
                <a16:creationId xmlns:a16="http://schemas.microsoft.com/office/drawing/2014/main" id="{65849F99-A3D7-4646-B509-CEE564FD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76500"/>
            <a:ext cx="5143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AFCAEED-0CFB-4284-A4AA-019B0AFF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HITL workflow, approval store, signed token</a:t>
            </a:r>
          </a:p>
        </p:txBody>
      </p:sp>
      <p:sp>
        <p:nvSpPr>
          <p:cNvPr id="15" name="gap">
            <a:extLst xmlns:a="http://schemas.openxmlformats.org/drawingml/2006/main">
              <a:ext uri="{FF2B5EF4-FFF2-40B4-BE49-F238E27FC236}">
                <a16:creationId xmlns:a16="http://schemas.microsoft.com/office/drawing/2014/main" id="{F5958B1F-3F3A-4B29-BD9F-46A28775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327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6" name="gap-marker">
            <a:extLst xmlns:a="http://schemas.openxmlformats.org/drawingml/2006/main">
              <a:ext uri="{FF2B5EF4-FFF2-40B4-BE49-F238E27FC236}">
                <a16:creationId xmlns:a16="http://schemas.microsoft.com/office/drawing/2014/main" id="{D1E26DD0-1E27-43D0-BC28-F27D9CC6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327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B88B526-870E-47D6-B31D-B656F7A3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No guardrail layer at the edge</a:t>
            </a:r>
          </a:p>
        </p:txBody>
      </p:sp>
      <p:sp>
        <p:nvSpPr>
          <p:cNvPr id="18" name="flow-arrow">
            <a:extLst xmlns:a="http://schemas.openxmlformats.org/drawingml/2006/main">
              <a:ext uri="{FF2B5EF4-FFF2-40B4-BE49-F238E27FC236}">
                <a16:creationId xmlns:a16="http://schemas.microsoft.com/office/drawing/2014/main" id="{EF834FD4-7C27-45E9-BA50-E71833DD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7908"/>
          </a:solidFill>
          <a:ln xmlns:a="http://schemas.openxmlformats.org/drawingml/2006/main" w="0">
            <a:solidFill>
              <a:srgbClr val="C77908"/>
            </a:solidFill>
            <a:prstDash val="solid"/>
          </a:ln>
        </p:spPr>
      </p:sp>
      <p:sp>
        <p:nvSpPr>
          <p:cNvPr id="19" name="control">
            <a:extLst xmlns:a="http://schemas.openxmlformats.org/drawingml/2006/main">
              <a:ext uri="{FF2B5EF4-FFF2-40B4-BE49-F238E27FC236}">
                <a16:creationId xmlns:a16="http://schemas.microsoft.com/office/drawing/2014/main" id="{BBE5E47C-2952-4AFC-ACBA-CFD4CD75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43275"/>
            <a:ext cx="5143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0B9B210-0CCC-4830-BDBB-BAB0E7D9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956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Model Armor, DLP, schema and intent checks</a:t>
            </a:r>
          </a:p>
        </p:txBody>
      </p:sp>
      <p:sp>
        <p:nvSpPr>
          <p:cNvPr id="21" name="gap">
            <a:extLst xmlns:a="http://schemas.openxmlformats.org/drawingml/2006/main">
              <a:ext uri="{FF2B5EF4-FFF2-40B4-BE49-F238E27FC236}">
                <a16:creationId xmlns:a16="http://schemas.microsoft.com/office/drawing/2014/main" id="{2CA73E56-96B5-461C-87BE-56236CD6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2" name="gap-marker">
            <a:extLst xmlns:a="http://schemas.openxmlformats.org/drawingml/2006/main">
              <a:ext uri="{FF2B5EF4-FFF2-40B4-BE49-F238E27FC236}">
                <a16:creationId xmlns:a16="http://schemas.microsoft.com/office/drawing/2014/main" id="{18FE4301-E4A4-4923-80F1-32A1A912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D6E54FA-1F71-4DCE-AB5A-20D9D1D6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Shared data plane and no RAG ingress</a:t>
            </a:r>
          </a:p>
        </p:txBody>
      </p:sp>
      <p:sp>
        <p:nvSpPr>
          <p:cNvPr id="24" name="flow-arrow">
            <a:extLst xmlns:a="http://schemas.openxmlformats.org/drawingml/2006/main">
              <a:ext uri="{FF2B5EF4-FFF2-40B4-BE49-F238E27FC236}">
                <a16:creationId xmlns:a16="http://schemas.microsoft.com/office/drawing/2014/main" id="{805534A7-B951-4EA6-A737-8316A3AF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815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solidFill>
              <a:srgbClr val="16856A"/>
            </a:solidFill>
            <a:prstDash val="solid"/>
          </a:ln>
        </p:spPr>
      </p:sp>
      <p:sp>
        <p:nvSpPr>
          <p:cNvPr id="25" name="control">
            <a:extLst xmlns:a="http://schemas.openxmlformats.org/drawingml/2006/main">
              <a:ext uri="{FF2B5EF4-FFF2-40B4-BE49-F238E27FC236}">
                <a16:creationId xmlns:a16="http://schemas.microsoft.com/office/drawing/2014/main" id="{FC5E5029-A089-44CA-BB98-76F10F77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10050"/>
            <a:ext cx="5143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7D36C1C-9B73-4EAA-8BB5-642F6A8E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62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Sanitization, RLS, memory controls</a:t>
            </a:r>
          </a:p>
        </p:txBody>
      </p:sp>
      <p:sp>
        <p:nvSpPr>
          <p:cNvPr id="27" name="gap">
            <a:extLst xmlns:a="http://schemas.openxmlformats.org/drawingml/2006/main">
              <a:ext uri="{FF2B5EF4-FFF2-40B4-BE49-F238E27FC236}">
                <a16:creationId xmlns:a16="http://schemas.microsoft.com/office/drawing/2014/main" id="{4DB8F1D7-55DA-41AE-89AE-5615D217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8" name="gap-marker">
            <a:extLst xmlns:a="http://schemas.openxmlformats.org/drawingml/2006/main">
              <a:ext uri="{FF2B5EF4-FFF2-40B4-BE49-F238E27FC236}">
                <a16:creationId xmlns:a16="http://schemas.microsoft.com/office/drawing/2014/main" id="{49FE4250-FA13-4368-979F-263E2BBC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14A511F-CD67-46E6-AC2E-BFC6EF9D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No causal audit or write backpressure</a:t>
            </a:r>
          </a:p>
        </p:txBody>
      </p:sp>
      <p:sp>
        <p:nvSpPr>
          <p:cNvPr id="30" name="flow-arrow">
            <a:extLst xmlns:a="http://schemas.openxmlformats.org/drawingml/2006/main">
              <a:ext uri="{FF2B5EF4-FFF2-40B4-BE49-F238E27FC236}">
                <a16:creationId xmlns:a16="http://schemas.microsoft.com/office/drawing/2014/main" id="{4AC68CDB-D9E8-4151-85D1-A41579A5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4827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1" name="control">
            <a:extLst xmlns:a="http://schemas.openxmlformats.org/drawingml/2006/main">
              <a:ext uri="{FF2B5EF4-FFF2-40B4-BE49-F238E27FC236}">
                <a16:creationId xmlns:a16="http://schemas.microsoft.com/office/drawing/2014/main" id="{B0A92EB4-4383-4F7D-A564-A785E4BB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76825"/>
            <a:ext cx="5143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893A549-3FFC-4767-8A2C-916FE9DE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292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Run ID, trace, budget breakers, Cloud Tasks</a:t>
            </a:r>
          </a:p>
        </p:txBody>
      </p:sp>
    </p:spTree>
    <p:extLst>
      <p:ext uri="{BB962C8B-B14F-4D97-AF65-F5344CB8AC3E}">
        <p14:creationId xmlns:p14="http://schemas.microsoft.com/office/powerpoint/2010/main" val="468447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AFE3459-91A4-437E-A6AA-4252D8D5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PILLAR 1 | RUNTIME GUARDRAILS AND OBSERVABILITY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1908DB-1751-4497-ADF1-B78E4C11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56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Every agent turn must be reconstructable - and financially bounded.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43961B1-17D9-4726-8073-F69C4F88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99099D5-F076-4A42-8B5C-7232B36F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282B99-8988-46D9-9EC1-257B64EE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05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D453C38-BF27-4FD4-B595-97A91D56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ONE TECHNICAL IDENTITY + ONE BUSINESS IDENTITY</a:t>
            </a:r>
          </a:p>
        </p:txBody>
      </p:sp>
      <p:sp>
        <p:nvSpPr>
          <p:cNvPr id="7" name="trace-panel">
            <a:extLst xmlns:a="http://schemas.openxmlformats.org/drawingml/2006/main">
              <a:ext uri="{FF2B5EF4-FFF2-40B4-BE49-F238E27FC236}">
                <a16:creationId xmlns:a16="http://schemas.microsoft.com/office/drawing/2014/main" id="{5F6E0B03-45CD-4755-9625-C4223533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50292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15713B-40C0-4004-86EA-77D14A48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trace_id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44BD5C-4D8E-48E8-8927-9D50C652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8"/>
                </a:solidFill>
              </a:defRPr>
            </a:pPr>
            <a:r>
              <a:rPr sz="1500" b="0">
                <a:solidFill>
                  <a:srgbClr val="102338"/>
                </a:solidFill>
              </a:rPr>
              <a:t>Connects distributed spans across Cloud Run, tools, SAP and vendor calls.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45851C0-68FC-4F7B-A169-3F550C26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FFE9BD1-51F6-40E3-9028-7DDE8E15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run_id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5935AA-7736-4A31-A381-37FF2721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8"/>
                </a:solidFill>
              </a:defRPr>
            </a:pPr>
            <a:r>
              <a:rPr sz="1500" b="0">
                <a:solidFill>
                  <a:srgbClr val="102338"/>
                </a:solidFill>
              </a:rPr>
              <a:t>Durable business key on every audit record, approval, idempotency key and email.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748C05F-79E8-4B63-84FA-A4C02EB0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SIX LAYERS STOP COST AND LOOP FAILURE</a:t>
            </a:r>
          </a:p>
        </p:txBody>
      </p:sp>
      <p:sp>
        <p:nvSpPr>
          <p:cNvPr id="14" name="breaker">
            <a:extLst xmlns:a="http://schemas.openxmlformats.org/drawingml/2006/main">
              <a:ext uri="{FF2B5EF4-FFF2-40B4-BE49-F238E27FC236}">
                <a16:creationId xmlns:a16="http://schemas.microsoft.com/office/drawing/2014/main" id="{AD20EE6D-C2D4-46B3-A4BF-45F42FA9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3050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A59FE1A-3A34-448C-BE28-318C335A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Model budget</a:t>
            </a:r>
          </a:p>
        </p:txBody>
      </p:sp>
      <p:sp>
        <p:nvSpPr>
          <p:cNvPr id="16" name="breaker">
            <a:extLst xmlns:a="http://schemas.openxmlformats.org/drawingml/2006/main">
              <a:ext uri="{FF2B5EF4-FFF2-40B4-BE49-F238E27FC236}">
                <a16:creationId xmlns:a16="http://schemas.microsoft.com/office/drawing/2014/main" id="{D73345FE-6EE6-408C-AAE2-29CD7271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3050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A095C7B-78AB-444E-95ED-69880C0B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098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Loop detector</a:t>
            </a:r>
          </a:p>
        </p:txBody>
      </p:sp>
      <p:sp>
        <p:nvSpPr>
          <p:cNvPr id="18" name="breaker">
            <a:extLst xmlns:a="http://schemas.openxmlformats.org/drawingml/2006/main">
              <a:ext uri="{FF2B5EF4-FFF2-40B4-BE49-F238E27FC236}">
                <a16:creationId xmlns:a16="http://schemas.microsoft.com/office/drawing/2014/main" id="{26EC9DEE-178E-478A-B1FD-CF0D9F72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23050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E37FA04-4ED4-43FD-A083-63087390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Redis counters</a:t>
            </a:r>
          </a:p>
        </p:txBody>
      </p:sp>
      <p:sp>
        <p:nvSpPr>
          <p:cNvPr id="20" name="breaker">
            <a:extLst xmlns:a="http://schemas.openxmlformats.org/drawingml/2006/main">
              <a:ext uri="{FF2B5EF4-FFF2-40B4-BE49-F238E27FC236}">
                <a16:creationId xmlns:a16="http://schemas.microsoft.com/office/drawing/2014/main" id="{182FCF4F-131C-4DF3-9FAB-EA9ECF83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3050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B6DC3F3-1E30-48B9-BC5C-74BEE897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Dependency breaker</a:t>
            </a:r>
          </a:p>
        </p:txBody>
      </p:sp>
      <p:sp>
        <p:nvSpPr>
          <p:cNvPr id="22" name="breaker">
            <a:extLst xmlns:a="http://schemas.openxmlformats.org/drawingml/2006/main">
              <a:ext uri="{FF2B5EF4-FFF2-40B4-BE49-F238E27FC236}">
                <a16:creationId xmlns:a16="http://schemas.microsoft.com/office/drawing/2014/main" id="{FA3E9C7C-25E8-4765-8B60-F5634964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23050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BA89673-DD8A-4FC0-8B4D-7CE42E7D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Cloud Tasks throttle</a:t>
            </a:r>
          </a:p>
        </p:txBody>
      </p:sp>
      <p:sp>
        <p:nvSpPr>
          <p:cNvPr id="24" name="breaker">
            <a:extLst xmlns:a="http://schemas.openxmlformats.org/drawingml/2006/main">
              <a:ext uri="{FF2B5EF4-FFF2-40B4-BE49-F238E27FC236}">
                <a16:creationId xmlns:a16="http://schemas.microsoft.com/office/drawing/2014/main" id="{5A777739-6A50-41B0-BF50-406910C7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3050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46CBE6C-8F7F-4D4C-B6B4-38C9B57C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481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Billing -&gt; read-only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232F739-F3C8-43DE-9D97-018445C8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75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C6B7A"/>
                </a:solidFill>
              </a:defRPr>
            </a:pPr>
            <a:r>
              <a:rPr sz="1650" b="0">
                <a:solidFill>
                  <a:srgbClr val="5C6B7A"/>
                </a:solidFill>
              </a:rPr>
              <a:t>Semantic audit records capture the decision context: prompt version, evidence, rationale, tool args, outcome, token use and cost.</a:t>
            </a:r>
          </a:p>
        </p:txBody>
      </p:sp>
    </p:spTree>
    <p:extLst>
      <p:ext uri="{BB962C8B-B14F-4D97-AF65-F5344CB8AC3E}">
        <p14:creationId xmlns:p14="http://schemas.microsoft.com/office/powerpoint/2010/main" val="12023194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F8366A2B-53B9-42E2-9504-F0E39BD0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PILLAR 2 | RAG AND MEMORY GOVERNANCE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37A64F-991D-447F-9574-A5D3AB36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Treat retrieved content as untrusted input.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979DC05-F9C1-4AB1-97EF-DCEC7194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7633D3-934C-4B3C-8FC3-15DD644C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BC922B-12C2-433B-8A5D-09F13B53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06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3AC7946A-FA8D-4D2C-A13C-77BD620A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9560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F7073656-61C5-400A-9DAA-FD3AF8EB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9560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54C14B29-006C-4527-B0D2-E69CD7B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9560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EB5D0D4B-A60F-42C6-9E60-A3C2EBD2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9560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circle">
            <a:extLst xmlns:a="http://schemas.openxmlformats.org/drawingml/2006/main">
              <a:ext uri="{FF2B5EF4-FFF2-40B4-BE49-F238E27FC236}">
                <a16:creationId xmlns:a16="http://schemas.microsoft.com/office/drawing/2014/main" id="{9F756E30-F547-4206-9D9C-7CEC95F0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99402BD-9798-43BE-AC02-7CDE6A74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ipeline-step">
            <a:extLst xmlns:a="http://schemas.openxmlformats.org/drawingml/2006/main">
              <a:ext uri="{FF2B5EF4-FFF2-40B4-BE49-F238E27FC236}">
                <a16:creationId xmlns:a16="http://schemas.microsoft.com/office/drawing/2014/main" id="{A6743264-7CEA-4432-A1B2-1910FDEF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5430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56A3FED-784E-47FE-B8C1-8E6229BE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20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Validate</a:t>
            </a:r>
          </a:p>
          <a:p xmlns:a="http://schemas.openxmlformats.org/drawingml/2006/main">
            <a:pPr algn="ctr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source</a:t>
            </a:r>
          </a:p>
        </p:txBody>
      </p:sp>
      <p:sp>
        <p:nvSpPr>
          <p:cNvPr id="14" name="circle">
            <a:extLst xmlns:a="http://schemas.openxmlformats.org/drawingml/2006/main">
              <a:ext uri="{FF2B5EF4-FFF2-40B4-BE49-F238E27FC236}">
                <a16:creationId xmlns:a16="http://schemas.microsoft.com/office/drawing/2014/main" id="{3B072E7C-2D3E-4F61-A69A-10676656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33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4F707CB-C7A8-4FF3-A655-8212FC7A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19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ipeline-step">
            <a:extLst xmlns:a="http://schemas.openxmlformats.org/drawingml/2006/main">
              <a:ext uri="{FF2B5EF4-FFF2-40B4-BE49-F238E27FC236}">
                <a16:creationId xmlns:a16="http://schemas.microsoft.com/office/drawing/2014/main" id="{FF25B79B-9427-4486-B6F8-5B1F5557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24150"/>
            <a:ext cx="15430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340096F-CA17-410A-8DB2-B9886AE0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76550"/>
            <a:ext cx="120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De-instruct</a:t>
            </a:r>
          </a:p>
          <a:p xmlns:a="http://schemas.openxmlformats.org/drawingml/2006/main">
            <a:pPr algn="ctr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content</a:t>
            </a:r>
          </a:p>
        </p:txBody>
      </p:sp>
      <p:sp>
        <p:nvSpPr>
          <p:cNvPr id="18" name="circle">
            <a:extLst xmlns:a="http://schemas.openxmlformats.org/drawingml/2006/main">
              <a:ext uri="{FF2B5EF4-FFF2-40B4-BE49-F238E27FC236}">
                <a16:creationId xmlns:a16="http://schemas.microsoft.com/office/drawing/2014/main" id="{1347909B-94DF-4C51-9492-7B8F6108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6A0DB68-816F-4D48-AF7C-A4E18939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19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pipeline-step">
            <a:extLst xmlns:a="http://schemas.openxmlformats.org/drawingml/2006/main">
              <a:ext uri="{FF2B5EF4-FFF2-40B4-BE49-F238E27FC236}">
                <a16:creationId xmlns:a16="http://schemas.microsoft.com/office/drawing/2014/main" id="{45F02598-85E5-4EA2-B215-44191228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15430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C5397F3-D21A-4082-81BE-DD974DD0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120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DLP</a:t>
            </a:r>
          </a:p>
          <a:p xmlns:a="http://schemas.openxmlformats.org/drawingml/2006/main">
            <a:pPr algn="ctr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de-identify</a:t>
            </a:r>
          </a:p>
        </p:txBody>
      </p:sp>
      <p:sp>
        <p:nvSpPr>
          <p:cNvPr id="22" name="circle">
            <a:extLst xmlns:a="http://schemas.openxmlformats.org/drawingml/2006/main">
              <a:ext uri="{FF2B5EF4-FFF2-40B4-BE49-F238E27FC236}">
                <a16:creationId xmlns:a16="http://schemas.microsoft.com/office/drawing/2014/main" id="{5C6B122B-3B26-42FF-A791-4732B26D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3C9CA51-043D-471A-8618-C9720239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19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pipeline-step">
            <a:extLst xmlns:a="http://schemas.openxmlformats.org/drawingml/2006/main">
              <a:ext uri="{FF2B5EF4-FFF2-40B4-BE49-F238E27FC236}">
                <a16:creationId xmlns:a16="http://schemas.microsoft.com/office/drawing/2014/main" id="{694FEC9B-BF2C-4D90-909F-452FCF0C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15430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19D2269-8453-48AC-931D-51DEA92B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76550"/>
            <a:ext cx="120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Embed +</a:t>
            </a:r>
          </a:p>
          <a:p xmlns:a="http://schemas.openxmlformats.org/drawingml/2006/main">
            <a:pPr algn="ctr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provenance</a:t>
            </a:r>
          </a:p>
        </p:txBody>
      </p:sp>
      <p:sp>
        <p:nvSpPr>
          <p:cNvPr id="26" name="circle">
            <a:extLst xmlns:a="http://schemas.openxmlformats.org/drawingml/2006/main">
              <a:ext uri="{FF2B5EF4-FFF2-40B4-BE49-F238E27FC236}">
                <a16:creationId xmlns:a16="http://schemas.microsoft.com/office/drawing/2014/main" id="{3EC17E75-7E88-4CBD-897A-00110214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33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7F39083-1A08-4F00-9D82-E79E98D9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19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pipeline-step">
            <a:extLst xmlns:a="http://schemas.openxmlformats.org/drawingml/2006/main">
              <a:ext uri="{FF2B5EF4-FFF2-40B4-BE49-F238E27FC236}">
                <a16:creationId xmlns:a16="http://schemas.microsoft.com/office/drawing/2014/main" id="{42F4E7A5-81D5-44B6-A962-3C6208B8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15430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BD21AB31-26B0-428F-AF5E-F4877497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120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RLS-filtered</a:t>
            </a:r>
          </a:p>
          <a:p xmlns:a="http://schemas.openxmlformats.org/drawingml/2006/main">
            <a:pPr algn="ctr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retrieval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E85EE911-AE5B-469F-BB18-2947A805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62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9D38AE1-0F3C-4C10-BDC5-F3FC9EC1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SEGMENTATION ENFORCED IN THE DATABASE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026A5DD-1F1D-4464-B0B3-E650959D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8"/>
                </a:solidFill>
              </a:defRPr>
            </a:pPr>
            <a:r>
              <a:rPr sz="1875" b="1">
                <a:solidFill>
                  <a:srgbClr val="102338"/>
                </a:solidFill>
              </a:rPr>
              <a:t>Tenant / business unit + sensitivity + corpus type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5E09117-1405-4B22-B031-889F88B9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5162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AlloyDB RLS and separate DB roles return zero rows when a filter is forgotten - never another unit's data.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876947E-E99F-48CD-B95E-56254792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MEMORY IS TIERED, TEMPORARY AND PROMOTED DELIBERATELY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005712F0-258E-426C-AC29-F341168A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Working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8995359-AEA0-42E0-9F22-ADE63316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244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minutes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386C4FB-D378-46E8-8F3A-6F532D3A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482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Session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A95938E4-C7DB-4E07-AFB9-3B999ABD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244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30 days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742293CC-3930-437D-BDBB-3CBA5AE6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482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Long-term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70905CC-64D6-45BE-A4E8-6B26E25A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24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365 days, renewable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E62AF32B-101C-483B-9FD4-CB57DB3E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24475"/>
            <a:ext cx="455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Promote only verified, source-backed or human-confirmed facts. Audit retention is separate from memory.</a:t>
            </a:r>
          </a:p>
        </p:txBody>
      </p:sp>
    </p:spTree>
    <p:extLst>
      <p:ext uri="{BB962C8B-B14F-4D97-AF65-F5344CB8AC3E}">
        <p14:creationId xmlns:p14="http://schemas.microsoft.com/office/powerpoint/2010/main" val="7759631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585723DA-F823-42EB-8AA1-9D746146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PILLAR 3 | AUTONOMY AND HITL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5CA581-30C9-45A4-9C47-060C149F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Policy sets autonomy - not the model.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298922E-E46E-4DBE-9432-81ADB980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58707A5-8961-4A71-9BD1-EBC62A6A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79EA1D-A526-43B6-800E-CB6C124F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07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B7D5E66-959E-415A-8ABE-67A1DA6F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AUTONOMY LADDER</a:t>
            </a:r>
          </a:p>
        </p:txBody>
      </p:sp>
      <p:sp>
        <p:nvSpPr>
          <p:cNvPr id="7" name="tier">
            <a:extLst xmlns:a="http://schemas.openxmlformats.org/drawingml/2006/main">
              <a:ext uri="{FF2B5EF4-FFF2-40B4-BE49-F238E27FC236}">
                <a16:creationId xmlns:a16="http://schemas.microsoft.com/office/drawing/2014/main" id="{F32C0536-84D5-4A74-8C2C-DF39D3A3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981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8" name="tier-accent">
            <a:extLst xmlns:a="http://schemas.openxmlformats.org/drawingml/2006/main">
              <a:ext uri="{FF2B5EF4-FFF2-40B4-BE49-F238E27FC236}">
                <a16:creationId xmlns:a16="http://schemas.microsoft.com/office/drawing/2014/main" id="{24BCF134-ABF5-40E4-924A-1B2B075B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981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02000B9-906B-41DD-BA13-EF31B224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56A"/>
                </a:solidFill>
              </a:defRPr>
            </a:pPr>
            <a:r>
              <a:rPr sz="1650" b="1">
                <a:solidFill>
                  <a:srgbClr val="16856A"/>
                </a:solidFill>
              </a:rPr>
              <a:t>L0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D34237-6F13-4A96-8638-A06D72E9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Read-only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BC024C-DB96-4AE3-ACF4-6960DE42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B7A"/>
                </a:solidFill>
              </a:defRPr>
            </a:pPr>
            <a:r>
              <a:rPr sz="1500" b="0">
                <a:solidFill>
                  <a:srgbClr val="5C6B7A"/>
                </a:solidFill>
              </a:rPr>
              <a:t>Query status</a:t>
            </a:r>
          </a:p>
        </p:txBody>
      </p:sp>
      <p:sp>
        <p:nvSpPr>
          <p:cNvPr id="12" name="tier">
            <a:extLst xmlns:a="http://schemas.openxmlformats.org/drawingml/2006/main">
              <a:ext uri="{FF2B5EF4-FFF2-40B4-BE49-F238E27FC236}">
                <a16:creationId xmlns:a16="http://schemas.microsoft.com/office/drawing/2014/main" id="{3123A61C-62F5-4CA7-A18C-6E1E1928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1981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3" name="tier-accent">
            <a:extLst xmlns:a="http://schemas.openxmlformats.org/drawingml/2006/main">
              <a:ext uri="{FF2B5EF4-FFF2-40B4-BE49-F238E27FC236}">
                <a16:creationId xmlns:a16="http://schemas.microsoft.com/office/drawing/2014/main" id="{9121465A-9A7A-453D-BFCB-0CC01C18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1981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0C8F47A-F0B9-450A-9BC2-104E44B1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56A"/>
                </a:solidFill>
              </a:defRPr>
            </a:pPr>
            <a:r>
              <a:rPr sz="1650" b="1">
                <a:solidFill>
                  <a:srgbClr val="16856A"/>
                </a:solidFill>
              </a:rPr>
              <a:t>L1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8ABB30D-395B-4B08-811B-D140ECF6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Draft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5EA12FF-81AA-40FC-A439-CC7C950C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432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B7A"/>
                </a:solidFill>
              </a:defRPr>
            </a:pPr>
            <a:r>
              <a:rPr sz="1500" b="0">
                <a:solidFill>
                  <a:srgbClr val="5C6B7A"/>
                </a:solidFill>
              </a:rPr>
              <a:t>Prepare form</a:t>
            </a:r>
          </a:p>
        </p:txBody>
      </p:sp>
      <p:sp>
        <p:nvSpPr>
          <p:cNvPr id="17" name="tier">
            <a:extLst xmlns:a="http://schemas.openxmlformats.org/drawingml/2006/main">
              <a:ext uri="{FF2B5EF4-FFF2-40B4-BE49-F238E27FC236}">
                <a16:creationId xmlns:a16="http://schemas.microsoft.com/office/drawing/2014/main" id="{42028355-FCC2-44F7-B81D-72D2A824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81250"/>
            <a:ext cx="1981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8" name="tier-accent">
            <a:extLst xmlns:a="http://schemas.openxmlformats.org/drawingml/2006/main">
              <a:ext uri="{FF2B5EF4-FFF2-40B4-BE49-F238E27FC236}">
                <a16:creationId xmlns:a16="http://schemas.microsoft.com/office/drawing/2014/main" id="{195E31C9-4334-493E-8500-1A76489D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81250"/>
            <a:ext cx="1981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D2F7B78-8CF3-4844-B467-ED9287D6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7908"/>
                </a:solidFill>
              </a:defRPr>
            </a:pPr>
            <a:r>
              <a:rPr sz="1650" b="1">
                <a:solidFill>
                  <a:srgbClr val="C77908"/>
                </a:solidFill>
              </a:rPr>
              <a:t>L2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F3FAE59-3265-4393-8C27-BA70E66F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Low-risk write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4CA4597-AD6D-4817-A3AE-10356C8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432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B7A"/>
                </a:solidFill>
              </a:defRPr>
            </a:pPr>
            <a:r>
              <a:rPr sz="1500" b="0">
                <a:solidFill>
                  <a:srgbClr val="5C6B7A"/>
                </a:solidFill>
              </a:rPr>
              <a:t>Pre-approved action</a:t>
            </a:r>
          </a:p>
        </p:txBody>
      </p:sp>
      <p:sp>
        <p:nvSpPr>
          <p:cNvPr id="22" name="tier">
            <a:extLst xmlns:a="http://schemas.openxmlformats.org/drawingml/2006/main">
              <a:ext uri="{FF2B5EF4-FFF2-40B4-BE49-F238E27FC236}">
                <a16:creationId xmlns:a16="http://schemas.microsoft.com/office/drawing/2014/main" id="{5E93003D-D63E-4C1A-8EC7-C2D7DA0D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1981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3" name="tier-accent">
            <a:extLst xmlns:a="http://schemas.openxmlformats.org/drawingml/2006/main">
              <a:ext uri="{FF2B5EF4-FFF2-40B4-BE49-F238E27FC236}">
                <a16:creationId xmlns:a16="http://schemas.microsoft.com/office/drawing/2014/main" id="{C90BEC5A-EF36-4E3D-B691-9E4D77EF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1981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C59B419-8161-4E93-B5DC-43E53D2A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374A"/>
                </a:solidFill>
              </a:defRPr>
            </a:pPr>
            <a:r>
              <a:rPr sz="1650" b="1">
                <a:solidFill>
                  <a:srgbClr val="B7374A"/>
                </a:solidFill>
              </a:rPr>
              <a:t>L3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189B451-3077-47D9-A219-444C94EA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Approval required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18E59EF-90DF-4346-AABC-7E0EC0CF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432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B7A"/>
                </a:solidFill>
              </a:defRPr>
            </a:pPr>
            <a:r>
              <a:rPr sz="1500" b="0">
                <a:solidFill>
                  <a:srgbClr val="5C6B7A"/>
                </a:solidFill>
              </a:rPr>
              <a:t>Release / reject PO</a:t>
            </a:r>
          </a:p>
        </p:txBody>
      </p:sp>
      <p:sp>
        <p:nvSpPr>
          <p:cNvPr id="27" name="tier">
            <a:extLst xmlns:a="http://schemas.openxmlformats.org/drawingml/2006/main">
              <a:ext uri="{FF2B5EF4-FFF2-40B4-BE49-F238E27FC236}">
                <a16:creationId xmlns:a16="http://schemas.microsoft.com/office/drawing/2014/main" id="{73E15044-A8BB-4D9C-AD71-61F006E4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981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8" name="tier-accent">
            <a:extLst xmlns:a="http://schemas.openxmlformats.org/drawingml/2006/main">
              <a:ext uri="{FF2B5EF4-FFF2-40B4-BE49-F238E27FC236}">
                <a16:creationId xmlns:a16="http://schemas.microsoft.com/office/drawing/2014/main" id="{8D06F23E-AE2D-43E6-BA14-9322E877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981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78EBE15-5BF2-4C55-B037-78AE94C2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4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182E"/>
                </a:solidFill>
              </a:defRPr>
            </a:pPr>
            <a:r>
              <a:rPr sz="1650" b="1">
                <a:solidFill>
                  <a:srgbClr val="06182E"/>
                </a:solidFill>
              </a:rPr>
              <a:t>L4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04CC290-3690-40A8-B9DA-3CB4A7AE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990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Prohibited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06138E4-30A7-4416-8534-924068DB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432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B7A"/>
                </a:solidFill>
              </a:defRPr>
            </a:pPr>
            <a:r>
              <a:rPr sz="1500" b="0">
                <a:solidFill>
                  <a:srgbClr val="5C6B7A"/>
                </a:solidFill>
              </a:rPr>
              <a:t>Policy denies</a:t>
            </a:r>
          </a:p>
        </p:txBody>
      </p:sp>
      <p:sp>
        <p:nvSpPr>
          <p:cNvPr id="32" name="policy-callout">
            <a:extLst xmlns:a="http://schemas.openxmlformats.org/drawingml/2006/main">
              <a:ext uri="{FF2B5EF4-FFF2-40B4-BE49-F238E27FC236}">
                <a16:creationId xmlns:a16="http://schemas.microsoft.com/office/drawing/2014/main" id="{9B2595B9-5E35-4FBA-8308-574404D3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06870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6DDF5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007CCF2-A103-4545-AB9A-C61EE29B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Deterministic breakpoint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CD0FE7B-0D30-4063-8683-3D691068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8"/>
                </a:solidFill>
              </a:defRPr>
            </a:pPr>
            <a:r>
              <a:rPr sz="1500" b="0">
                <a:solidFill>
                  <a:srgbClr val="102338"/>
                </a:solidFill>
              </a:rPr>
              <a:t>A versioned Rego/CEL policy in before_tool_callback evaluates value, vendor risk, price variance, bank-detail change, retrieval confidence and whether the run is unattended. Default outcome: DENY.</a:t>
            </a:r>
          </a:p>
        </p:txBody>
      </p:sp>
    </p:spTree>
    <p:extLst>
      <p:ext uri="{BB962C8B-B14F-4D97-AF65-F5344CB8AC3E}">
        <p14:creationId xmlns:p14="http://schemas.microsoft.com/office/powerpoint/2010/main" val="1054678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209E1B9D-440C-4E7A-9160-546560D7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PILLAR 3 | SAFE PAUSE, APPROVAL AND RESUME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BAAFB2-9E54-47AF-908B-4700B5EB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Human approval binds the exact payload.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E2D7866-DFA8-4016-9857-C6956D48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C1D4B2A-F8F6-4D61-ACEF-373D5755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83A6DD-CF07-4D31-9DA6-31EE791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08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ED31780E-21C7-4606-9716-57660231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76550"/>
            <a:ext cx="609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32FBE66E-D731-471D-B6B9-65FA40CE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76550"/>
            <a:ext cx="609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A1DC39DE-5FE6-47A4-865A-EB29DAC9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76550"/>
            <a:ext cx="609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hitl-stage">
            <a:extLst xmlns:a="http://schemas.openxmlformats.org/drawingml/2006/main">
              <a:ext uri="{FF2B5EF4-FFF2-40B4-BE49-F238E27FC236}">
                <a16:creationId xmlns:a16="http://schemas.microsoft.com/office/drawing/2014/main" id="{76523D31-2DFC-477B-9767-4B17BE85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66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0" name="circle">
            <a:extLst xmlns:a="http://schemas.openxmlformats.org/drawingml/2006/main">
              <a:ext uri="{FF2B5EF4-FFF2-40B4-BE49-F238E27FC236}">
                <a16:creationId xmlns:a16="http://schemas.microsoft.com/office/drawing/2014/main" id="{23BECDF5-37F9-4417-9EE4-48C8A189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F9EA940-5EE9-4CFB-B443-917F120F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7CA1A4-426C-45C8-88EF-778763FA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Plan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84DE5FF-B025-402F-8987-FF6B6CA7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37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Policy identifies</a:t>
            </a:r>
          </a:p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a high-risk write</a:t>
            </a:r>
          </a:p>
        </p:txBody>
      </p:sp>
      <p:sp>
        <p:nvSpPr>
          <p:cNvPr id="14" name="hitl-stage">
            <a:extLst xmlns:a="http://schemas.openxmlformats.org/drawingml/2006/main">
              <a:ext uri="{FF2B5EF4-FFF2-40B4-BE49-F238E27FC236}">
                <a16:creationId xmlns:a16="http://schemas.microsoft.com/office/drawing/2014/main" id="{C1CA7EE9-AE73-4EAB-9BEC-A1C93729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81250"/>
            <a:ext cx="1866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5" name="circle">
            <a:extLst xmlns:a="http://schemas.openxmlformats.org/drawingml/2006/main">
              <a:ext uri="{FF2B5EF4-FFF2-40B4-BE49-F238E27FC236}">
                <a16:creationId xmlns:a16="http://schemas.microsoft.com/office/drawing/2014/main" id="{E8AAE585-2C35-4B9A-A0B7-875EA367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171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908"/>
          </a:solidFill>
          <a:ln xmlns:a="http://schemas.openxmlformats.org/drawingml/2006/main" w="0">
            <a:solidFill>
              <a:srgbClr val="C77908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4680755-0E79-4344-A016-D82159F9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574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94C73A3-0FFF-4A4B-95B4-B600211E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146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Pause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30A7CEF-01A4-4709-BF9C-5D2963F8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6705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37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Checkpoint in AlloyDB</a:t>
            </a:r>
          </a:p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Publish via Pub/Sub</a:t>
            </a:r>
          </a:p>
        </p:txBody>
      </p:sp>
      <p:sp>
        <p:nvSpPr>
          <p:cNvPr id="19" name="hitl-stage">
            <a:extLst xmlns:a="http://schemas.openxmlformats.org/drawingml/2006/main">
              <a:ext uri="{FF2B5EF4-FFF2-40B4-BE49-F238E27FC236}">
                <a16:creationId xmlns:a16="http://schemas.microsoft.com/office/drawing/2014/main" id="{0C35BC6F-9952-4BFE-BB2B-C5E2F71C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1866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0" name="circle">
            <a:extLst xmlns:a="http://schemas.openxmlformats.org/drawingml/2006/main">
              <a:ext uri="{FF2B5EF4-FFF2-40B4-BE49-F238E27FC236}">
                <a16:creationId xmlns:a16="http://schemas.microsoft.com/office/drawing/2014/main" id="{3B0BFD11-D46F-47A5-9349-794CE92B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solidFill>
              <a:srgbClr val="16856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B8BF965-61B2-476E-8D1E-E13D98C4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574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5B79EE8-CE9F-45BF-B621-71BC3D7D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146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Approve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F77BD5B-C248-460C-A11B-9EF011A3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37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IAP UI shows</a:t>
            </a:r>
          </a:p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the exact diff</a:t>
            </a:r>
          </a:p>
        </p:txBody>
      </p:sp>
      <p:sp>
        <p:nvSpPr>
          <p:cNvPr id="24" name="hitl-stage">
            <a:extLst xmlns:a="http://schemas.openxmlformats.org/drawingml/2006/main">
              <a:ext uri="{FF2B5EF4-FFF2-40B4-BE49-F238E27FC236}">
                <a16:creationId xmlns:a16="http://schemas.microsoft.com/office/drawing/2014/main" id="{5FEDC4DC-C1D6-4F7F-88F8-87D31368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81250"/>
            <a:ext cx="1866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5" name="circle">
            <a:extLst xmlns:a="http://schemas.openxmlformats.org/drawingml/2006/main">
              <a:ext uri="{FF2B5EF4-FFF2-40B4-BE49-F238E27FC236}">
                <a16:creationId xmlns:a16="http://schemas.microsoft.com/office/drawing/2014/main" id="{2029169F-575E-4631-A9BD-B7B81661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71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1CAC5E5-E191-43A7-A2C4-BB1A6662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574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CD9D080-357D-4415-B564-0BEED8FA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146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Execute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F1C233B-683D-4103-94C1-C551169A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6705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37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Re-check and submit</a:t>
            </a:r>
          </a:p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through Cloud Tasks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4F31FAD-B3B7-4A2F-B62B-F04C7986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 SIGNED, SINGLE-USE APPROVAL TOKEN BINDS</a:t>
            </a:r>
          </a:p>
        </p:txBody>
      </p:sp>
      <p:sp>
        <p:nvSpPr>
          <p:cNvPr id="30" name="token-bit">
            <a:extLst xmlns:a="http://schemas.openxmlformats.org/drawingml/2006/main">
              <a:ext uri="{FF2B5EF4-FFF2-40B4-BE49-F238E27FC236}">
                <a16:creationId xmlns:a16="http://schemas.microsoft.com/office/drawing/2014/main" id="{07361064-B1A0-4C4E-8E5A-A33A0602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7526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97B9791-D179-4840-B5F5-24E8FF45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run_id</a:t>
            </a:r>
          </a:p>
        </p:txBody>
      </p:sp>
      <p:sp>
        <p:nvSpPr>
          <p:cNvPr id="32" name="token-bit">
            <a:extLst xmlns:a="http://schemas.openxmlformats.org/drawingml/2006/main">
              <a:ext uri="{FF2B5EF4-FFF2-40B4-BE49-F238E27FC236}">
                <a16:creationId xmlns:a16="http://schemas.microsoft.com/office/drawing/2014/main" id="{E15EFDC5-51A7-4525-B85D-ED4FC4B0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10100"/>
            <a:ext cx="17526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1BEEAA2-6B8E-47A0-B11E-440F32A2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863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step sequence</a:t>
            </a:r>
          </a:p>
        </p:txBody>
      </p:sp>
      <p:sp>
        <p:nvSpPr>
          <p:cNvPr id="34" name="token-bit">
            <a:extLst xmlns:a="http://schemas.openxmlformats.org/drawingml/2006/main">
              <a:ext uri="{FF2B5EF4-FFF2-40B4-BE49-F238E27FC236}">
                <a16:creationId xmlns:a16="http://schemas.microsoft.com/office/drawing/2014/main" id="{5197E82B-E43C-498B-BBA9-E03EF5FD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0100"/>
            <a:ext cx="17526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717EAEC0-8E43-497C-A182-DB2347D3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863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arguments hash</a:t>
            </a:r>
          </a:p>
        </p:txBody>
      </p:sp>
      <p:sp>
        <p:nvSpPr>
          <p:cNvPr id="36" name="token-bit">
            <a:extLst xmlns:a="http://schemas.openxmlformats.org/drawingml/2006/main">
              <a:ext uri="{FF2B5EF4-FFF2-40B4-BE49-F238E27FC236}">
                <a16:creationId xmlns:a16="http://schemas.microsoft.com/office/drawing/2014/main" id="{21E05A90-7F77-4684-AC14-B12D0292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17526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0D5568A5-F967-4B3F-B28D-CBD311F4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720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what the human saw</a:t>
            </a:r>
          </a:p>
        </p:txBody>
      </p:sp>
      <p:sp>
        <p:nvSpPr>
          <p:cNvPr id="38" name="token-bit">
            <a:extLst xmlns:a="http://schemas.openxmlformats.org/drawingml/2006/main">
              <a:ext uri="{FF2B5EF4-FFF2-40B4-BE49-F238E27FC236}">
                <a16:creationId xmlns:a16="http://schemas.microsoft.com/office/drawing/2014/main" id="{AB1FBC3D-A443-467A-B1D8-9296594E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95875"/>
            <a:ext cx="17526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638EFBF1-5747-42CA-A0E2-C692CD72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720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approver + expiry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42C34155-AB80-458F-AB63-C9C2F3B9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VERIFICATION BEFORE EXECUTION</a:t>
            </a:r>
          </a:p>
        </p:txBody>
      </p:sp>
      <p:sp>
        <p:nvSpPr>
          <p:cNvPr id="41" name="circle">
            <a:extLst xmlns:a="http://schemas.openxmlformats.org/drawingml/2006/main">
              <a:ext uri="{FF2B5EF4-FFF2-40B4-BE49-F238E27FC236}">
                <a16:creationId xmlns:a16="http://schemas.microsoft.com/office/drawing/2014/main" id="{1CD8722A-0F15-4D41-9754-FC33A732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91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2" name="bullet">
            <a:extLst xmlns:a="http://schemas.openxmlformats.org/drawingml/2006/main">
              <a:ext uri="{FF2B5EF4-FFF2-40B4-BE49-F238E27FC236}">
                <a16:creationId xmlns:a16="http://schemas.microsoft.com/office/drawing/2014/main" id="{91ECBFC8-1108-49A7-A04D-2241CB41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5295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8"/>
                </a:solidFill>
              </a:defRPr>
            </a:pPr>
            <a:r>
              <a:rPr sz="1575" b="0">
                <a:solidFill>
                  <a:srgbClr val="102338"/>
                </a:solidFill>
              </a:rPr>
              <a:t>KMS signature + expiry</a:t>
            </a:r>
          </a:p>
        </p:txBody>
      </p:sp>
      <p:sp>
        <p:nvSpPr>
          <p:cNvPr id="43" name="circle">
            <a:extLst xmlns:a="http://schemas.openxmlformats.org/drawingml/2006/main">
              <a:ext uri="{FF2B5EF4-FFF2-40B4-BE49-F238E27FC236}">
                <a16:creationId xmlns:a16="http://schemas.microsoft.com/office/drawing/2014/main" id="{DC3CCA6E-8560-4DA1-A63F-7CE6CAD3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86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4" name="bullet">
            <a:extLst xmlns:a="http://schemas.openxmlformats.org/drawingml/2006/main">
              <a:ext uri="{FF2B5EF4-FFF2-40B4-BE49-F238E27FC236}">
                <a16:creationId xmlns:a16="http://schemas.microsoft.com/office/drawing/2014/main" id="{8D4787C3-54C3-4242-9728-2877A479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482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8"/>
                </a:solidFill>
              </a:defRPr>
            </a:pPr>
            <a:r>
              <a:rPr sz="1575" b="0">
                <a:solidFill>
                  <a:srgbClr val="102338"/>
                </a:solidFill>
              </a:rPr>
              <a:t>Token has not been burned</a:t>
            </a:r>
          </a:p>
        </p:txBody>
      </p:sp>
      <p:sp>
        <p:nvSpPr>
          <p:cNvPr id="45" name="circle">
            <a:extLst xmlns:a="http://schemas.openxmlformats.org/drawingml/2006/main">
              <a:ext uri="{FF2B5EF4-FFF2-40B4-BE49-F238E27FC236}">
                <a16:creationId xmlns:a16="http://schemas.microsoft.com/office/drawing/2014/main" id="{9D44407B-5FF2-4859-BCAA-FB8BD2CD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81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6" name="bullet">
            <a:extLst xmlns:a="http://schemas.openxmlformats.org/drawingml/2006/main">
              <a:ext uri="{FF2B5EF4-FFF2-40B4-BE49-F238E27FC236}">
                <a16:creationId xmlns:a16="http://schemas.microsoft.com/office/drawing/2014/main" id="{64535000-B927-4E25-AD83-C734D2F9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4350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8"/>
                </a:solidFill>
              </a:defRPr>
            </a:pPr>
            <a:r>
              <a:rPr sz="1575" b="0">
                <a:solidFill>
                  <a:srgbClr val="102338"/>
                </a:solidFill>
              </a:rPr>
              <a:t>Payload hash still matches</a:t>
            </a:r>
          </a:p>
        </p:txBody>
      </p:sp>
      <p:sp>
        <p:nvSpPr>
          <p:cNvPr id="47" name="circle">
            <a:extLst xmlns:a="http://schemas.openxmlformats.org/drawingml/2006/main">
              <a:ext uri="{FF2B5EF4-FFF2-40B4-BE49-F238E27FC236}">
                <a16:creationId xmlns:a16="http://schemas.microsoft.com/office/drawing/2014/main" id="{C80AC8F1-EC58-4B8E-B611-EFA8CE32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76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8" name="bullet">
            <a:extLst xmlns:a="http://schemas.openxmlformats.org/drawingml/2006/main">
              <a:ext uri="{FF2B5EF4-FFF2-40B4-BE49-F238E27FC236}">
                <a16:creationId xmlns:a16="http://schemas.microsoft.com/office/drawing/2014/main" id="{B19E0E1D-9321-40C8-B0FF-1BAA186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3877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8"/>
                </a:solidFill>
              </a:defRPr>
            </a:pPr>
            <a:r>
              <a:rPr sz="1575" b="0">
                <a:solidFill>
                  <a:srgbClr val="102338"/>
                </a:solidFill>
              </a:rPr>
              <a:t>Approver role + four-eyes</a:t>
            </a:r>
          </a:p>
        </p:txBody>
      </p:sp>
      <p:sp>
        <p:nvSpPr>
          <p:cNvPr id="49" name="circle">
            <a:extLst xmlns:a="http://schemas.openxmlformats.org/drawingml/2006/main">
              <a:ext uri="{FF2B5EF4-FFF2-40B4-BE49-F238E27FC236}">
                <a16:creationId xmlns:a16="http://schemas.microsoft.com/office/drawing/2014/main" id="{15777828-D4F9-44A1-9FC7-65395C47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0" name="bullet">
            <a:extLst xmlns:a="http://schemas.openxmlformats.org/drawingml/2006/main">
              <a:ext uri="{FF2B5EF4-FFF2-40B4-BE49-F238E27FC236}">
                <a16:creationId xmlns:a16="http://schemas.microsoft.com/office/drawing/2014/main" id="{70D8BDA8-AD2F-4775-9BC2-FAC3D41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3405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8"/>
                </a:solidFill>
              </a:defRPr>
            </a:pPr>
            <a:r>
              <a:rPr sz="1575" b="0">
                <a:solidFill>
                  <a:srgbClr val="102338"/>
                </a:solidFill>
              </a:rPr>
              <a:t>SAP preconditions still hold</a:t>
            </a:r>
          </a:p>
        </p:txBody>
      </p:sp>
    </p:spTree>
    <p:extLst>
      <p:ext uri="{BB962C8B-B14F-4D97-AF65-F5344CB8AC3E}">
        <p14:creationId xmlns:p14="http://schemas.microsoft.com/office/powerpoint/2010/main" val="20866820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8BDDAC9-E6A9-46BD-90F0-2A4C1F92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PILLAR 4 | I/O GUARDRAIL MIDDLEWARE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5ECA3E-A266-458B-A173-BDC21D6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Guardrails screen every untrusted input.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5DFF52B-68B4-44C8-9584-573B9F83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1DF463-671C-4720-851A-CFC83ED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5F5021-EFDF-4F07-8191-42992526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09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F5EDC4B8-C344-4B35-93B1-88FA6FCE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723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B1E2FDDE-7D54-4F63-82EE-8F8B6E60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05150"/>
            <a:ext cx="723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E2FC7605-F3C1-48E0-A0E1-A2D6937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723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node">
            <a:extLst xmlns:a="http://schemas.openxmlformats.org/drawingml/2006/main">
              <a:ext uri="{FF2B5EF4-FFF2-40B4-BE49-F238E27FC236}">
                <a16:creationId xmlns:a16="http://schemas.microsoft.com/office/drawing/2014/main" id="{2819F712-81F5-410C-AA99-F5243FC1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943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6F7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0" name="node-accent">
            <a:extLst xmlns:a="http://schemas.openxmlformats.org/drawingml/2006/main">
              <a:ext uri="{FF2B5EF4-FFF2-40B4-BE49-F238E27FC236}">
                <a16:creationId xmlns:a16="http://schemas.microsoft.com/office/drawing/2014/main" id="{5C9AB039-AD24-4DF5-A0CB-13892538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-label">
            <a:extLst xmlns:a="http://schemas.openxmlformats.org/drawingml/2006/main">
              <a:ext uri="{FF2B5EF4-FFF2-40B4-BE49-F238E27FC236}">
                <a16:creationId xmlns:a16="http://schemas.microsoft.com/office/drawing/2014/main" id="{4C475A6C-0065-4D65-8CBA-AD233B0C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Untrusted input</a:t>
            </a:r>
          </a:p>
        </p:txBody>
      </p:sp>
      <p:sp>
        <p:nvSpPr>
          <p:cNvPr id="12" name="node-sub">
            <a:extLst xmlns:a="http://schemas.openxmlformats.org/drawingml/2006/main">
              <a:ext uri="{FF2B5EF4-FFF2-40B4-BE49-F238E27FC236}">
                <a16:creationId xmlns:a16="http://schemas.microsoft.com/office/drawing/2014/main" id="{8185AC7C-4E2C-4FD8-9493-42C23DD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User, document, vendor response</a:t>
            </a:r>
          </a:p>
        </p:txBody>
      </p:sp>
      <p:sp>
        <p:nvSpPr>
          <p:cNvPr id="13" name="node">
            <a:extLst xmlns:a="http://schemas.openxmlformats.org/drawingml/2006/main">
              <a:ext uri="{FF2B5EF4-FFF2-40B4-BE49-F238E27FC236}">
                <a16:creationId xmlns:a16="http://schemas.microsoft.com/office/drawing/2014/main" id="{3055C825-CAEA-4207-B5C3-B17B1251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47950"/>
            <a:ext cx="23145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AED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4" name="node-accent">
            <a:extLst xmlns:a="http://schemas.openxmlformats.org/drawingml/2006/main">
              <a:ext uri="{FF2B5EF4-FFF2-40B4-BE49-F238E27FC236}">
                <a16:creationId xmlns:a16="http://schemas.microsoft.com/office/drawing/2014/main" id="{F4FD227D-DDA3-4CED-88F2-7BF09AE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479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-label">
            <a:extLst xmlns:a="http://schemas.openxmlformats.org/drawingml/2006/main">
              <a:ext uri="{FF2B5EF4-FFF2-40B4-BE49-F238E27FC236}">
                <a16:creationId xmlns:a16="http://schemas.microsoft.com/office/drawing/2014/main" id="{835F95F8-65CD-464B-ABCA-7F50F8E1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Input guardrail</a:t>
            </a:r>
          </a:p>
        </p:txBody>
      </p:sp>
      <p:sp>
        <p:nvSpPr>
          <p:cNvPr id="16" name="node-sub">
            <a:extLst xmlns:a="http://schemas.openxmlformats.org/drawingml/2006/main">
              <a:ext uri="{FF2B5EF4-FFF2-40B4-BE49-F238E27FC236}">
                <a16:creationId xmlns:a16="http://schemas.microsoft.com/office/drawing/2014/main" id="{A4846C1A-5EB9-489F-9068-584B33F4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00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Schema | Unicode | Armor | DLP</a:t>
            </a:r>
          </a:p>
        </p:txBody>
      </p:sp>
      <p:sp>
        <p:nvSpPr>
          <p:cNvPr id="17" name="node">
            <a:extLst xmlns:a="http://schemas.openxmlformats.org/drawingml/2006/main">
              <a:ext uri="{FF2B5EF4-FFF2-40B4-BE49-F238E27FC236}">
                <a16:creationId xmlns:a16="http://schemas.microsoft.com/office/drawing/2014/main" id="{E1E30A67-EE17-4A86-90EB-616A8221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47950"/>
            <a:ext cx="23145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8" name="node-accent">
            <a:extLst xmlns:a="http://schemas.openxmlformats.org/drawingml/2006/main">
              <a:ext uri="{FF2B5EF4-FFF2-40B4-BE49-F238E27FC236}">
                <a16:creationId xmlns:a16="http://schemas.microsoft.com/office/drawing/2014/main" id="{C626B8CF-8129-4077-B8C1-FD97455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479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label">
            <a:extLst xmlns:a="http://schemas.openxmlformats.org/drawingml/2006/main">
              <a:ext uri="{FF2B5EF4-FFF2-40B4-BE49-F238E27FC236}">
                <a16:creationId xmlns:a16="http://schemas.microsoft.com/office/drawing/2014/main" id="{20EB956E-BDA4-4E56-9ED1-20F97AFD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035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Agent + tools</a:t>
            </a:r>
          </a:p>
        </p:txBody>
      </p:sp>
      <p:sp>
        <p:nvSpPr>
          <p:cNvPr id="20" name="node-sub">
            <a:extLst xmlns:a="http://schemas.openxmlformats.org/drawingml/2006/main">
              <a:ext uri="{FF2B5EF4-FFF2-40B4-BE49-F238E27FC236}">
                <a16:creationId xmlns:a16="http://schemas.microsoft.com/office/drawing/2014/main" id="{AA4B9507-8886-4E19-8A0E-57305CE0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05150"/>
            <a:ext cx="200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Plan, retrieve, call controlled tools</a:t>
            </a:r>
          </a:p>
        </p:txBody>
      </p:sp>
      <p:sp>
        <p:nvSpPr>
          <p:cNvPr id="21" name="node">
            <a:extLst xmlns:a="http://schemas.openxmlformats.org/drawingml/2006/main">
              <a:ext uri="{FF2B5EF4-FFF2-40B4-BE49-F238E27FC236}">
                <a16:creationId xmlns:a16="http://schemas.microsoft.com/office/drawing/2014/main" id="{7D8C23AE-D8BA-4D94-B814-C51B52DB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943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BF8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2" name="node-accent">
            <a:extLst xmlns:a="http://schemas.openxmlformats.org/drawingml/2006/main">
              <a:ext uri="{FF2B5EF4-FFF2-40B4-BE49-F238E27FC236}">
                <a16:creationId xmlns:a16="http://schemas.microsoft.com/office/drawing/2014/main" id="{9A5E6881-5CE3-46C9-B9E4-50B8B76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ode-label">
            <a:extLst xmlns:a="http://schemas.openxmlformats.org/drawingml/2006/main">
              <a:ext uri="{FF2B5EF4-FFF2-40B4-BE49-F238E27FC236}">
                <a16:creationId xmlns:a16="http://schemas.microsoft.com/office/drawing/2014/main" id="{86C5EF7E-1077-402D-9BB1-50567053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Output guardrail</a:t>
            </a:r>
          </a:p>
        </p:txBody>
      </p:sp>
      <p:sp>
        <p:nvSpPr>
          <p:cNvPr id="24" name="node-sub">
            <a:extLst xmlns:a="http://schemas.openxmlformats.org/drawingml/2006/main">
              <a:ext uri="{FF2B5EF4-FFF2-40B4-BE49-F238E27FC236}">
                <a16:creationId xmlns:a16="http://schemas.microsoft.com/office/drawing/2014/main" id="{EA664262-EC55-4B2A-9814-0AFF7A3A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Schema | DLP | URLs | invariants</a:t>
            </a:r>
          </a:p>
        </p:txBody>
      </p:sp>
      <p:sp>
        <p:nvSpPr>
          <p:cNvPr id="25" name="safety-rule">
            <a:extLst xmlns:a="http://schemas.openxmlformats.org/drawingml/2006/main">
              <a:ext uri="{FF2B5EF4-FFF2-40B4-BE49-F238E27FC236}">
                <a16:creationId xmlns:a16="http://schemas.microsoft.com/office/drawing/2014/main" id="{B4F6FF18-5F7F-43BA-9CEB-40B57F0E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91050"/>
            <a:ext cx="98488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6DDF5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6144FCC-1E96-4EB9-BA12-F1B8D80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48225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338"/>
                </a:solidFill>
              </a:defRPr>
            </a:pPr>
            <a:r>
              <a:rPr sz="1875" b="1">
                <a:solidFill>
                  <a:srgbClr val="102338"/>
                </a:solidFill>
              </a:rPr>
              <a:t>Write path: fail closed.  Read path: degrade gracefully to a no-write experience.</a:t>
            </a:r>
          </a:p>
        </p:txBody>
      </p:sp>
    </p:spTree>
    <p:extLst>
      <p:ext uri="{BB962C8B-B14F-4D97-AF65-F5344CB8AC3E}">
        <p14:creationId xmlns:p14="http://schemas.microsoft.com/office/powerpoint/2010/main" val="1801140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C78386C7-F3BC-4A31-B86D-2B76FFBA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PILLAR 4 | CONTINUOUS EVALUATION GATES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7E307F-95CB-4935-9C7C-06CE68CE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Every production release must pass the gate.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48BAB98-D7B6-4DBE-875E-FBA1A43B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98BEE75-BDBA-4921-BED4-97E89A62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6CF8E88-056A-4D00-93B1-5B652A95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10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6027B1E6-39DA-4A4C-8BF6-DA364875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9082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02B21518-9B34-42B8-9016-EF1AD04C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9082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66A680B2-5E89-4EB8-9A3C-C5A79AF2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9082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02E7C169-4232-4160-93F3-9161802F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9082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gate">
            <a:extLst xmlns:a="http://schemas.openxmlformats.org/drawingml/2006/main">
              <a:ext uri="{FF2B5EF4-FFF2-40B4-BE49-F238E27FC236}">
                <a16:creationId xmlns:a16="http://schemas.microsoft.com/office/drawing/2014/main" id="{480B17B4-6914-400E-BB51-9089EDB9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05050"/>
            <a:ext cx="1752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B70354C-BD51-4BA2-8C5B-52202191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6F6FE8B-6B52-4B25-9E3E-ADBAB1FF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Unit + policy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5D2A59A-799F-48F8-9668-6CC39D1B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Callbacks and</a:t>
            </a:r>
          </a:p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access rules</a:t>
            </a:r>
          </a:p>
        </p:txBody>
      </p:sp>
      <p:sp>
        <p:nvSpPr>
          <p:cNvPr id="14" name="gate">
            <a:extLst xmlns:a="http://schemas.openxmlformats.org/drawingml/2006/main">
              <a:ext uri="{FF2B5EF4-FFF2-40B4-BE49-F238E27FC236}">
                <a16:creationId xmlns:a16="http://schemas.microsoft.com/office/drawing/2014/main" id="{7B686957-546D-4468-B27D-4AEF12CE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305050"/>
            <a:ext cx="1752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4B75EA6-30F2-456A-AC3B-A1C829DE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4574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016C4EA-11C7-41F8-AB43-E3CC3C4D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908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Trajectory eval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638CFB3-39FB-4EAD-8F56-E4E4E36B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17182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Correct tool path</a:t>
            </a:r>
          </a:p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and groundedness</a:t>
            </a:r>
          </a:p>
        </p:txBody>
      </p:sp>
      <p:sp>
        <p:nvSpPr>
          <p:cNvPr id="18" name="gate">
            <a:extLst xmlns:a="http://schemas.openxmlformats.org/drawingml/2006/main">
              <a:ext uri="{FF2B5EF4-FFF2-40B4-BE49-F238E27FC236}">
                <a16:creationId xmlns:a16="http://schemas.microsoft.com/office/drawing/2014/main" id="{09E0A45E-CBEE-4931-A081-075EB46F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1752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3F91746-DBCA-48AD-A610-966BAF55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B2CC8FC-DD29-4003-82CD-8769812A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908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Red-team suite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8BC8F27-CC46-4051-B7BB-4A851362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7182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Jailbreak and</a:t>
            </a:r>
          </a:p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data-leak tests</a:t>
            </a:r>
          </a:p>
        </p:txBody>
      </p:sp>
      <p:sp>
        <p:nvSpPr>
          <p:cNvPr id="22" name="gate">
            <a:extLst xmlns:a="http://schemas.openxmlformats.org/drawingml/2006/main">
              <a:ext uri="{FF2B5EF4-FFF2-40B4-BE49-F238E27FC236}">
                <a16:creationId xmlns:a16="http://schemas.microsoft.com/office/drawing/2014/main" id="{ACDD1638-4F50-4927-AA77-E5660FF7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05050"/>
            <a:ext cx="1752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66F581F-5461-460D-BB01-E4212568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574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42A47C9-5957-45FD-A033-2C3FD8A8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908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Cost / latency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85AE11A-5C9A-4E64-B187-8331C5AA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7182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Budget regression</a:t>
            </a:r>
          </a:p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thresholds</a:t>
            </a:r>
          </a:p>
        </p:txBody>
      </p:sp>
      <p:sp>
        <p:nvSpPr>
          <p:cNvPr id="26" name="gate">
            <a:extLst xmlns:a="http://schemas.openxmlformats.org/drawingml/2006/main">
              <a:ext uri="{FF2B5EF4-FFF2-40B4-BE49-F238E27FC236}">
                <a16:creationId xmlns:a16="http://schemas.microsoft.com/office/drawing/2014/main" id="{CF7D79D3-6177-4064-B0E4-CDFDAE14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1752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3D655CA-A411-4043-9DFA-9EF65836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9FCD9D8-795B-4312-849F-6D847ACC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908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Canary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A7C369E-2BE2-4765-9A4B-6D98F04A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7182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Observe and</a:t>
            </a:r>
          </a:p>
          <a:p xmlns:a="http://schemas.openxmlformats.org/drawingml/2006/main">
            <a:pPr algn="ctr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auto-rollback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22D1FD1-DD06-4A67-970D-D148D2AD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METRICS THAT PROVE THE SYSTEM IS GETTING SAFER AND MORE USEFUL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92D693B-09C7-43BC-9CBE-71A3CBB6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Business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E69BA9A-45BC-4E5A-B96C-BEBFFB8F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43425"/>
            <a:ext cx="352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Straight-through rate; cycle time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1CFD3DE-C0B9-4D35-B945-7F3A9EAB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54342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Safety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843A1955-ECB0-4658-8A76-0A19B37B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43425"/>
            <a:ext cx="352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Attack success rate; false-positive rate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588F1B46-59E4-4463-8FFE-4AB3DA99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HITL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06423E6-BB30-4172-9DA8-483386FA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62550"/>
            <a:ext cx="352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Approval latency; reversal rate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6D4EF3F9-E44F-41A1-ADB4-ED6DD6CF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16255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Economics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B9EFE7E8-81B2-4B13-9341-69240600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62550"/>
            <a:ext cx="352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Cost per resolved PO</a:t>
            </a:r>
          </a:p>
        </p:txBody>
      </p:sp>
    </p:spTree>
    <p:extLst>
      <p:ext uri="{BB962C8B-B14F-4D97-AF65-F5344CB8AC3E}">
        <p14:creationId xmlns:p14="http://schemas.microsoft.com/office/powerpoint/2010/main" val="19451071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2D929B98-B255-4876-9A1D-7C0EFF6C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SYNTHESIS | TARGET GCP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311A5A-E334-44D0-9B4E-C6BF81CE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61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Safety-in-depth makes a compromised model insufficient for harm.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1A1593B-C8CE-4DED-B215-FEA02380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Each layer limits a distinct failure mode; no control relies solely on prompt obedience.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C953076-0A88-4705-BD83-8991B47B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7EAB1F7-8B7F-4DFD-AFA4-F0770547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157C1F-67DC-42A3-BC36-127D9F27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11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89A04BF0-AE57-44C0-B579-DB19B077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00325"/>
            <a:ext cx="476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F5A169B5-056E-4136-BE28-8A89A5A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0325"/>
            <a:ext cx="476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63454A5F-BAA4-4920-B5E3-D3C2DD0A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00325"/>
            <a:ext cx="476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flow-arrow">
            <a:extLst xmlns:a="http://schemas.openxmlformats.org/drawingml/2006/main">
              <a:ext uri="{FF2B5EF4-FFF2-40B4-BE49-F238E27FC236}">
                <a16:creationId xmlns:a16="http://schemas.microsoft.com/office/drawing/2014/main" id="{0B04DD83-3D58-42C9-BA58-FCD68AAD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00325"/>
            <a:ext cx="476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84BED5D3-9288-49DE-BA5F-40A25C60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2" name="node-accent">
            <a:extLst xmlns:a="http://schemas.openxmlformats.org/drawingml/2006/main">
              <a:ext uri="{FF2B5EF4-FFF2-40B4-BE49-F238E27FC236}">
                <a16:creationId xmlns:a16="http://schemas.microsoft.com/office/drawing/2014/main" id="{54B3A675-329C-452F-93AA-541E4FA4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label">
            <a:extLst xmlns:a="http://schemas.openxmlformats.org/drawingml/2006/main">
              <a:ext uri="{FF2B5EF4-FFF2-40B4-BE49-F238E27FC236}">
                <a16:creationId xmlns:a16="http://schemas.microsoft.com/office/drawing/2014/main" id="{65C4C176-9C49-4459-9365-75A8D178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Edge</a:t>
            </a:r>
          </a:p>
        </p:txBody>
      </p:sp>
      <p:sp>
        <p:nvSpPr>
          <p:cNvPr id="14" name="node-sub">
            <a:extLst xmlns:a="http://schemas.openxmlformats.org/drawingml/2006/main">
              <a:ext uri="{FF2B5EF4-FFF2-40B4-BE49-F238E27FC236}">
                <a16:creationId xmlns:a16="http://schemas.microsoft.com/office/drawing/2014/main" id="{DC794E86-DBAC-4892-A7DF-43F6573F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54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ALB | Armor | IAP | Apigee</a:t>
            </a:r>
          </a:p>
        </p:txBody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11184BB6-B4EC-415C-9D1F-317DB23B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28850"/>
            <a:ext cx="19240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6" name="node-accent">
            <a:extLst xmlns:a="http://schemas.openxmlformats.org/drawingml/2006/main">
              <a:ext uri="{FF2B5EF4-FFF2-40B4-BE49-F238E27FC236}">
                <a16:creationId xmlns:a16="http://schemas.microsoft.com/office/drawing/2014/main" id="{C18B3A54-652A-4AC9-AB6F-06657FCD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288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label">
            <a:extLst xmlns:a="http://schemas.openxmlformats.org/drawingml/2006/main">
              <a:ext uri="{FF2B5EF4-FFF2-40B4-BE49-F238E27FC236}">
                <a16:creationId xmlns:a16="http://schemas.microsoft.com/office/drawing/2014/main" id="{0C0DC31D-1242-4532-BF66-35648DF7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Agent runtime</a:t>
            </a:r>
          </a:p>
        </p:txBody>
      </p:sp>
      <p:sp>
        <p:nvSpPr>
          <p:cNvPr id="18" name="node-sub">
            <a:extLst xmlns:a="http://schemas.openxmlformats.org/drawingml/2006/main">
              <a:ext uri="{FF2B5EF4-FFF2-40B4-BE49-F238E27FC236}">
                <a16:creationId xmlns:a16="http://schemas.microsoft.com/office/drawing/2014/main" id="{502DE88C-9044-4605-91D1-10CF2E8E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Cloud Run | ADK | OTel</a:t>
            </a:r>
          </a:p>
        </p:txBody>
      </p:sp>
      <p:sp>
        <p:nvSpPr>
          <p:cNvPr id="19" name="node">
            <a:extLst xmlns:a="http://schemas.openxmlformats.org/drawingml/2006/main">
              <a:ext uri="{FF2B5EF4-FFF2-40B4-BE49-F238E27FC236}">
                <a16:creationId xmlns:a16="http://schemas.microsoft.com/office/drawing/2014/main" id="{57F5553B-E62B-43BD-9DDC-6551BC51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28850"/>
            <a:ext cx="2400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ED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0" name="node-accent">
            <a:extLst xmlns:a="http://schemas.openxmlformats.org/drawingml/2006/main">
              <a:ext uri="{FF2B5EF4-FFF2-40B4-BE49-F238E27FC236}">
                <a16:creationId xmlns:a16="http://schemas.microsoft.com/office/drawing/2014/main" id="{79E745EE-501D-432C-BA29-81EE1EAE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288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ode-label">
            <a:extLst xmlns:a="http://schemas.openxmlformats.org/drawingml/2006/main">
              <a:ext uri="{FF2B5EF4-FFF2-40B4-BE49-F238E27FC236}">
                <a16:creationId xmlns:a16="http://schemas.microsoft.com/office/drawing/2014/main" id="{A5E2A8C6-06F4-498D-BF13-693B6557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812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Policy and workflow</a:t>
            </a:r>
          </a:p>
        </p:txBody>
      </p:sp>
      <p:sp>
        <p:nvSpPr>
          <p:cNvPr id="22" name="node-sub">
            <a:extLst xmlns:a="http://schemas.openxmlformats.org/drawingml/2006/main">
              <a:ext uri="{FF2B5EF4-FFF2-40B4-BE49-F238E27FC236}">
                <a16:creationId xmlns:a16="http://schemas.microsoft.com/office/drawing/2014/main" id="{15A9BC47-0E65-4A5B-9DCF-51E34CFF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CEL/Rego | Workflows | Tasks</a:t>
            </a:r>
          </a:p>
        </p:txBody>
      </p:sp>
      <p:sp>
        <p:nvSpPr>
          <p:cNvPr id="23" name="node">
            <a:extLst xmlns:a="http://schemas.openxmlformats.org/drawingml/2006/main">
              <a:ext uri="{FF2B5EF4-FFF2-40B4-BE49-F238E27FC236}">
                <a16:creationId xmlns:a16="http://schemas.microsoft.com/office/drawing/2014/main" id="{9C0748C8-F000-4F21-BAFB-CE48508B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28850"/>
            <a:ext cx="19240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BF8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4" name="node-accent">
            <a:extLst xmlns:a="http://schemas.openxmlformats.org/drawingml/2006/main">
              <a:ext uri="{FF2B5EF4-FFF2-40B4-BE49-F238E27FC236}">
                <a16:creationId xmlns:a16="http://schemas.microsoft.com/office/drawing/2014/main" id="{381E5FA7-DF6D-4D8C-ACE4-0DE67790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288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ode-label">
            <a:extLst xmlns:a="http://schemas.openxmlformats.org/drawingml/2006/main">
              <a:ext uri="{FF2B5EF4-FFF2-40B4-BE49-F238E27FC236}">
                <a16:creationId xmlns:a16="http://schemas.microsoft.com/office/drawing/2014/main" id="{4F5960BF-07B9-4D3B-8206-BF1F650A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Data and knowledge</a:t>
            </a:r>
          </a:p>
        </p:txBody>
      </p:sp>
      <p:sp>
        <p:nvSpPr>
          <p:cNvPr id="26" name="node-sub">
            <a:extLst xmlns:a="http://schemas.openxmlformats.org/drawingml/2006/main">
              <a:ext uri="{FF2B5EF4-FFF2-40B4-BE49-F238E27FC236}">
                <a16:creationId xmlns:a16="http://schemas.microsoft.com/office/drawing/2014/main" id="{35696CCB-B288-4F6A-BEC2-AE3523D8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860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AlloyDB RLS | Redis | GCS</a:t>
            </a:r>
          </a:p>
        </p:txBody>
      </p:sp>
      <p:sp>
        <p:nvSpPr>
          <p:cNvPr id="27" name="node">
            <a:extLst xmlns:a="http://schemas.openxmlformats.org/drawingml/2006/main">
              <a:ext uri="{FF2B5EF4-FFF2-40B4-BE49-F238E27FC236}">
                <a16:creationId xmlns:a16="http://schemas.microsoft.com/office/drawing/2014/main" id="{801F0B8B-258F-4B94-8184-F1FB3E06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28850"/>
            <a:ext cx="1314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6F7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8" name="node-accent">
            <a:extLst xmlns:a="http://schemas.openxmlformats.org/drawingml/2006/main">
              <a:ext uri="{FF2B5EF4-FFF2-40B4-BE49-F238E27FC236}">
                <a16:creationId xmlns:a16="http://schemas.microsoft.com/office/drawing/2014/main" id="{24CCF808-E79E-46FE-85E5-582FC882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288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node-label">
            <a:extLst xmlns:a="http://schemas.openxmlformats.org/drawingml/2006/main">
              <a:ext uri="{FF2B5EF4-FFF2-40B4-BE49-F238E27FC236}">
                <a16:creationId xmlns:a16="http://schemas.microsoft.com/office/drawing/2014/main" id="{6A6B621A-62C3-4631-AFAE-6078FF69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812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8"/>
                </a:solidFill>
              </a:defRPr>
            </a:pPr>
            <a:r>
              <a:rPr sz="1500" b="1">
                <a:solidFill>
                  <a:srgbClr val="102338"/>
                </a:solidFill>
              </a:rPr>
              <a:t>Systems</a:t>
            </a:r>
          </a:p>
        </p:txBody>
      </p:sp>
      <p:sp>
        <p:nvSpPr>
          <p:cNvPr id="30" name="node-sub">
            <a:extLst xmlns:a="http://schemas.openxmlformats.org/drawingml/2006/main">
              <a:ext uri="{FF2B5EF4-FFF2-40B4-BE49-F238E27FC236}">
                <a16:creationId xmlns:a16="http://schemas.microsoft.com/office/drawing/2014/main" id="{95A730A0-2E5D-4CE3-9FBE-823A3810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86050"/>
            <a:ext cx="1009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SAP | vendor</a:t>
            </a:r>
          </a:p>
        </p:txBody>
      </p:sp>
      <p:sp>
        <p:nvSpPr>
          <p:cNvPr id="31" name="service">
            <a:extLst xmlns:a="http://schemas.openxmlformats.org/drawingml/2006/main">
              <a:ext uri="{FF2B5EF4-FFF2-40B4-BE49-F238E27FC236}">
                <a16:creationId xmlns:a16="http://schemas.microsoft.com/office/drawing/2014/main" id="{99AFF2DB-D87B-4D43-9A8D-9A873D85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00550"/>
            <a:ext cx="2286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CAAEDCD-FBE1-4F5F-9FC6-59EEC157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529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</a:defRPr>
            </a:pPr>
            <a:r>
              <a:rPr sz="1200" b="1">
                <a:solidFill>
                  <a:srgbClr val="102338"/>
                </a:solidFill>
              </a:rPr>
              <a:t>Model Armor + DLP</a:t>
            </a:r>
          </a:p>
        </p:txBody>
      </p:sp>
      <p:sp>
        <p:nvSpPr>
          <p:cNvPr id="33" name="service">
            <a:extLst xmlns:a="http://schemas.openxmlformats.org/drawingml/2006/main">
              <a:ext uri="{FF2B5EF4-FFF2-40B4-BE49-F238E27FC236}">
                <a16:creationId xmlns:a16="http://schemas.microsoft.com/office/drawing/2014/main" id="{939582C6-1C29-4CEF-9379-11FD93F3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00550"/>
            <a:ext cx="2286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E83ED74A-FF31-47AD-9F84-79328CE8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529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</a:defRPr>
            </a:pPr>
            <a:r>
              <a:rPr sz="1200" b="1">
                <a:solidFill>
                  <a:srgbClr val="102338"/>
                </a:solidFill>
              </a:rPr>
              <a:t>Cloud Trace + Logging + Datadog</a:t>
            </a:r>
          </a:p>
        </p:txBody>
      </p:sp>
      <p:sp>
        <p:nvSpPr>
          <p:cNvPr id="35" name="service">
            <a:extLst xmlns:a="http://schemas.openxmlformats.org/drawingml/2006/main">
              <a:ext uri="{FF2B5EF4-FFF2-40B4-BE49-F238E27FC236}">
                <a16:creationId xmlns:a16="http://schemas.microsoft.com/office/drawing/2014/main" id="{87BB0229-948E-483F-934C-97062BB1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00550"/>
            <a:ext cx="2286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41970C9-35DA-46AC-B6D6-468D6496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529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</a:defRPr>
            </a:pPr>
            <a:r>
              <a:rPr sz="1200" b="1">
                <a:solidFill>
                  <a:srgbClr val="102338"/>
                </a:solidFill>
              </a:rPr>
              <a:t>KMS signed approvals</a:t>
            </a:r>
          </a:p>
        </p:txBody>
      </p:sp>
      <p:sp>
        <p:nvSpPr>
          <p:cNvPr id="37" name="service">
            <a:extLst xmlns:a="http://schemas.openxmlformats.org/drawingml/2006/main">
              <a:ext uri="{FF2B5EF4-FFF2-40B4-BE49-F238E27FC236}">
                <a16:creationId xmlns:a16="http://schemas.microsoft.com/office/drawing/2014/main" id="{8A03D54A-C879-4CA1-A9C5-898C5374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00550"/>
            <a:ext cx="2286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76088261-5610-4225-9FA4-38EDEBD4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529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</a:defRPr>
            </a:pPr>
            <a:r>
              <a:rPr sz="1200" b="1">
                <a:solidFill>
                  <a:srgbClr val="102338"/>
                </a:solidFill>
              </a:rPr>
              <a:t>VPC Service Controls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39D7B10D-A6C0-466F-9780-F0624EB1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7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North-star control: the agent can plan broadly, but only bounded, observable and policy-authorized actions can cross a system boundary.</a:t>
            </a:r>
          </a:p>
        </p:txBody>
      </p:sp>
    </p:spTree>
    <p:extLst>
      <p:ext uri="{BB962C8B-B14F-4D97-AF65-F5344CB8AC3E}">
        <p14:creationId xmlns:p14="http://schemas.microsoft.com/office/powerpoint/2010/main" val="3674872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49375728-3BC2-4456-B0D8-698FB29A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DELIVERY 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A218B4-EA7C-4FE8-BA7C-40028D42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5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Build the controls in the order that unlocks safe production use.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46B23FD-1834-4243-8909-4C3FB7D1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Early phases remove the highest-risk blind spots before any write autonomy is expanded.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6F3CF3F-3126-4ABA-A4D9-0C4144C1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3FB4739-5394-46C5-BD45-93C6F609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767468-80C9-4262-9E45-4167A8A7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12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9BD14A3-B654-4F66-BABE-BE67E85D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068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ircle">
            <a:extLst xmlns:a="http://schemas.openxmlformats.org/drawingml/2006/main">
              <a:ext uri="{FF2B5EF4-FFF2-40B4-BE49-F238E27FC236}">
                <a16:creationId xmlns:a16="http://schemas.microsoft.com/office/drawing/2014/main" id="{E47FBC6D-4FF3-4CCB-9FA0-03175BD5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F6137C0-3725-4710-BF34-06C58AEF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0" name="phase">
            <a:extLst xmlns:a="http://schemas.openxmlformats.org/drawingml/2006/main">
              <a:ext uri="{FF2B5EF4-FFF2-40B4-BE49-F238E27FC236}">
                <a16:creationId xmlns:a16="http://schemas.microsoft.com/office/drawing/2014/main" id="{3F45491C-DC10-44FD-B286-C43069FB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409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49EE003-201A-4456-9EF5-32554F30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Foundations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B6F5F2-6677-4F25-8D96-2B8DAFCF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17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IAM, network, secrets, environments</a:t>
            </a:r>
          </a:p>
        </p:txBody>
      </p:sp>
      <p:sp>
        <p:nvSpPr>
          <p:cNvPr id="13" name="circle">
            <a:extLst xmlns:a="http://schemas.openxmlformats.org/drawingml/2006/main">
              <a:ext uri="{FF2B5EF4-FFF2-40B4-BE49-F238E27FC236}">
                <a16:creationId xmlns:a16="http://schemas.microsoft.com/office/drawing/2014/main" id="{C1485995-B5D6-4C12-88EB-0B984D81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705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A2F69AF-B373-4242-BDAD-94340974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phase">
            <a:extLst xmlns:a="http://schemas.openxmlformats.org/drawingml/2006/main">
              <a:ext uri="{FF2B5EF4-FFF2-40B4-BE49-F238E27FC236}">
                <a16:creationId xmlns:a16="http://schemas.microsoft.com/office/drawing/2014/main" id="{CA6309AA-751A-4CF2-9306-74CC10B1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267200"/>
            <a:ext cx="1409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1B7C62E-B944-47C7-90C1-E0E0898C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4291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Observe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9A90141-70D0-44B7-AB12-6951503E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762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81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Run IDs, OTel, audit schema, SLOs</a:t>
            </a:r>
          </a:p>
        </p:txBody>
      </p:sp>
      <p:sp>
        <p:nvSpPr>
          <p:cNvPr id="18" name="circle">
            <a:extLst xmlns:a="http://schemas.openxmlformats.org/drawingml/2006/main">
              <a:ext uri="{FF2B5EF4-FFF2-40B4-BE49-F238E27FC236}">
                <a16:creationId xmlns:a16="http://schemas.microsoft.com/office/drawing/2014/main" id="{1DE23AD8-3D68-47BE-96B1-76F99084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05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7964185-777E-4A0D-8C22-FBC71BA4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phase">
            <a:extLst xmlns:a="http://schemas.openxmlformats.org/drawingml/2006/main">
              <a:ext uri="{FF2B5EF4-FFF2-40B4-BE49-F238E27FC236}">
                <a16:creationId xmlns:a16="http://schemas.microsoft.com/office/drawing/2014/main" id="{5F1C7C3C-6EC6-4CB5-B9F5-1B4A3106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1409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98A0C8F-213F-4DE6-8104-D66000A2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479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Constrain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87C90A9-ABEE-4B64-9975-48763A8A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7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Budgets, loops, idempotency, tasks</a:t>
            </a:r>
          </a:p>
        </p:txBody>
      </p:sp>
      <p:sp>
        <p:nvSpPr>
          <p:cNvPr id="23" name="circle">
            <a:extLst xmlns:a="http://schemas.openxmlformats.org/drawingml/2006/main">
              <a:ext uri="{FF2B5EF4-FFF2-40B4-BE49-F238E27FC236}">
                <a16:creationId xmlns:a16="http://schemas.microsoft.com/office/drawing/2014/main" id="{8A9943BB-BF36-4556-A6F1-287B32C6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05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D2A1159-79C2-4655-912E-BE3BADA4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phase">
            <a:extLst xmlns:a="http://schemas.openxmlformats.org/drawingml/2006/main">
              <a:ext uri="{FF2B5EF4-FFF2-40B4-BE49-F238E27FC236}">
                <a16:creationId xmlns:a16="http://schemas.microsoft.com/office/drawing/2014/main" id="{6DAA6DD9-6D85-4B6D-91B3-1EFB0C9F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67200"/>
            <a:ext cx="1409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9BDB760-0B4C-47B0-95DA-DEE211B8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4291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3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Govern knowledge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820ED95-8E82-4CFB-B346-3564F522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762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Sanitization, RLS, TTLs</a:t>
            </a:r>
          </a:p>
        </p:txBody>
      </p:sp>
      <p:sp>
        <p:nvSpPr>
          <p:cNvPr id="28" name="circle">
            <a:extLst xmlns:a="http://schemas.openxmlformats.org/drawingml/2006/main">
              <a:ext uri="{FF2B5EF4-FFF2-40B4-BE49-F238E27FC236}">
                <a16:creationId xmlns:a16="http://schemas.microsoft.com/office/drawing/2014/main" id="{7FEE1C09-6EF8-4A22-8923-677F2854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05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649DB17-E278-401C-884A-642CF9BC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phase">
            <a:extLst xmlns:a="http://schemas.openxmlformats.org/drawingml/2006/main">
              <a:ext uri="{FF2B5EF4-FFF2-40B4-BE49-F238E27FC236}">
                <a16:creationId xmlns:a16="http://schemas.microsoft.com/office/drawing/2014/main" id="{44BCE503-ED0F-42EF-88CD-B3611437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1409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F21B3C3-B434-4A74-81A5-027175C8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479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Enable HITL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46E0F36-1458-47E8-A17A-95FA60D9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Policy, approval UI, KMS token</a:t>
            </a:r>
          </a:p>
        </p:txBody>
      </p:sp>
      <p:sp>
        <p:nvSpPr>
          <p:cNvPr id="33" name="circle">
            <a:extLst xmlns:a="http://schemas.openxmlformats.org/drawingml/2006/main">
              <a:ext uri="{FF2B5EF4-FFF2-40B4-BE49-F238E27FC236}">
                <a16:creationId xmlns:a16="http://schemas.microsoft.com/office/drawing/2014/main" id="{9240D01B-35DA-4F9D-902F-A88EDBE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05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880A448-EA11-40EA-B653-F86CA194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phase">
            <a:extLst xmlns:a="http://schemas.openxmlformats.org/drawingml/2006/main">
              <a:ext uri="{FF2B5EF4-FFF2-40B4-BE49-F238E27FC236}">
                <a16:creationId xmlns:a16="http://schemas.microsoft.com/office/drawing/2014/main" id="{A7E904F6-472B-44EB-B59F-F0D4869A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67200"/>
            <a:ext cx="1409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F0F388F1-2FEE-45DA-9FE3-73E72B96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4291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Harden inputs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9B06FEA8-A5C0-4402-A010-C8D3FC4C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62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Armor, DLP, invariants</a:t>
            </a:r>
          </a:p>
        </p:txBody>
      </p:sp>
      <p:sp>
        <p:nvSpPr>
          <p:cNvPr id="38" name="circle">
            <a:extLst xmlns:a="http://schemas.openxmlformats.org/drawingml/2006/main">
              <a:ext uri="{FF2B5EF4-FFF2-40B4-BE49-F238E27FC236}">
                <a16:creationId xmlns:a16="http://schemas.microsoft.com/office/drawing/2014/main" id="{4F607220-E350-407C-8CEB-A6082712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05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25066C10-B4CC-495C-8FE0-C9EF28E5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phase">
            <a:extLst xmlns:a="http://schemas.openxmlformats.org/drawingml/2006/main">
              <a:ext uri="{FF2B5EF4-FFF2-40B4-BE49-F238E27FC236}">
                <a16:creationId xmlns:a16="http://schemas.microsoft.com/office/drawing/2014/main" id="{F90C71E2-AB3B-469C-A676-0C9F083A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86000"/>
            <a:ext cx="1409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34476022-1358-40C8-8B9F-40A65CB4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479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8"/>
                </a:solidFill>
              </a:defRPr>
            </a:pPr>
            <a:r>
              <a:rPr sz="1350" b="1">
                <a:solidFill>
                  <a:srgbClr val="102338"/>
                </a:solidFill>
              </a:rPr>
              <a:t>Prove and expand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EF2B2024-AEB0-438E-9521-A5B0C37C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Eval gates, canary, rollout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88A4F205-5035-4E92-949D-470FDD0B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C6B7A"/>
                </a:solidFill>
              </a:defRPr>
            </a:pPr>
            <a:r>
              <a:rPr sz="1575" b="1">
                <a:solidFill>
                  <a:srgbClr val="5C6B7A"/>
                </a:solidFill>
              </a:rPr>
              <a:t>Principle: reduce blast radius first; then build the acceleration mechanisms that safely increase autonomy.</a:t>
            </a:r>
          </a:p>
        </p:txBody>
      </p:sp>
    </p:spTree>
    <p:extLst>
      <p:ext uri="{BB962C8B-B14F-4D97-AF65-F5344CB8AC3E}">
        <p14:creationId xmlns:p14="http://schemas.microsoft.com/office/powerpoint/2010/main" val="15285315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61E9017-8F1E-4C33-9E79-CF06390D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PRODUCTION READINESS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D620F2-F66E-447B-89BC-035D4D3B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Prove safety before production.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AB0843-84B2-431F-BB3B-DF2919F8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The gates below are testable engineering requirements, not policy statements.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3DCDC61-B1C9-4827-9D1F-260447C6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8D45DFB-7B91-4D10-97D1-C3F025A3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2F66D6-7C1E-4EDD-816B-7FF37BE0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13</a:t>
            </a:r>
          </a:p>
        </p:txBody>
      </p:sp>
      <p:sp>
        <p:nvSpPr>
          <p:cNvPr id="7" name="go-live-gate">
            <a:extLst xmlns:a="http://schemas.openxmlformats.org/drawingml/2006/main">
              <a:ext uri="{FF2B5EF4-FFF2-40B4-BE49-F238E27FC236}">
                <a16:creationId xmlns:a16="http://schemas.microsoft.com/office/drawing/2014/main" id="{A1C5A62C-525B-47FB-A3B1-725C2792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5219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8" name="circle">
            <a:extLst xmlns:a="http://schemas.openxmlformats.org/drawingml/2006/main">
              <a:ext uri="{FF2B5EF4-FFF2-40B4-BE49-F238E27FC236}">
                <a16:creationId xmlns:a16="http://schemas.microsoft.com/office/drawing/2014/main" id="{78890CAE-5B59-42BF-B36A-99D7ADE6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solidFill>
              <a:srgbClr val="16856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4412AB3-31C8-4C53-BB2E-8C8662A8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A7F9848-2542-4368-ABBB-A7B924E0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33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Reconstruct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9C5D62B-2F77-48A4-8902-609BA8F6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19375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A"/>
                </a:solidFill>
              </a:defRPr>
            </a:pPr>
            <a:r>
              <a:rPr sz="1200" b="0">
                <a:solidFill>
                  <a:srgbClr val="5C6B7A"/>
                </a:solidFill>
              </a:rPr>
              <a:t>Find every action by run_id and show the evidence, policy and tool outcome.</a:t>
            </a:r>
          </a:p>
        </p:txBody>
      </p:sp>
      <p:sp>
        <p:nvSpPr>
          <p:cNvPr id="12" name="go-live-gate">
            <a:extLst xmlns:a="http://schemas.openxmlformats.org/drawingml/2006/main">
              <a:ext uri="{FF2B5EF4-FFF2-40B4-BE49-F238E27FC236}">
                <a16:creationId xmlns:a16="http://schemas.microsoft.com/office/drawing/2014/main" id="{FB82A819-4AC3-4A1A-AFE1-254C4310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5219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3" name="circle">
            <a:extLst xmlns:a="http://schemas.openxmlformats.org/drawingml/2006/main">
              <a:ext uri="{FF2B5EF4-FFF2-40B4-BE49-F238E27FC236}">
                <a16:creationId xmlns:a16="http://schemas.microsoft.com/office/drawing/2014/main" id="{F94488E4-5A9A-4765-86AF-51D805E2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solidFill>
              <a:srgbClr val="16856A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4575B5D-6729-4AC6-BF74-22BC087D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0081396-EC6A-4741-9C11-F1B5D45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Contain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78339F7-337E-44A6-9820-FB9F075F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19375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6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A"/>
                </a:solidFill>
              </a:defRPr>
            </a:pPr>
            <a:r>
              <a:rPr sz="1200" b="0">
                <a:solidFill>
                  <a:srgbClr val="5C6B7A"/>
                </a:solidFill>
              </a:rPr>
              <a:t>A broken dependency, runaway loop or budget breach cannot create uncontrolled spend or duplicate writes.</a:t>
            </a:r>
          </a:p>
        </p:txBody>
      </p:sp>
      <p:sp>
        <p:nvSpPr>
          <p:cNvPr id="17" name="go-live-gate">
            <a:extLst xmlns:a="http://schemas.openxmlformats.org/drawingml/2006/main">
              <a:ext uri="{FF2B5EF4-FFF2-40B4-BE49-F238E27FC236}">
                <a16:creationId xmlns:a16="http://schemas.microsoft.com/office/drawing/2014/main" id="{8307EB36-1633-4BDB-9253-2C1211CB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5219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8" name="circle">
            <a:extLst xmlns:a="http://schemas.openxmlformats.org/drawingml/2006/main">
              <a:ext uri="{FF2B5EF4-FFF2-40B4-BE49-F238E27FC236}">
                <a16:creationId xmlns:a16="http://schemas.microsoft.com/office/drawing/2014/main" id="{BD5DFFED-2E7D-4C1E-9479-3D475F62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solidFill>
              <a:srgbClr val="16856A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15E4C37-65B5-455D-A703-76C135DC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3830079-70DD-43FC-88A4-F0875761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95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Isolate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9CDCAD2-3B2E-43EC-A035-129BB845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7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A"/>
                </a:solidFill>
              </a:defRPr>
            </a:pPr>
            <a:r>
              <a:rPr sz="1200" b="0">
                <a:solidFill>
                  <a:srgbClr val="5C6B7A"/>
                </a:solidFill>
              </a:rPr>
              <a:t>Cross-BU retrieval returns zero rows under adversarial filter omissions.</a:t>
            </a:r>
          </a:p>
        </p:txBody>
      </p:sp>
      <p:sp>
        <p:nvSpPr>
          <p:cNvPr id="22" name="go-live-gate">
            <a:extLst xmlns:a="http://schemas.openxmlformats.org/drawingml/2006/main">
              <a:ext uri="{FF2B5EF4-FFF2-40B4-BE49-F238E27FC236}">
                <a16:creationId xmlns:a16="http://schemas.microsoft.com/office/drawing/2014/main" id="{45DD5311-9C0F-40FB-912E-87CDF76C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5219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3" name="circle">
            <a:extLst xmlns:a="http://schemas.openxmlformats.org/drawingml/2006/main">
              <a:ext uri="{FF2B5EF4-FFF2-40B4-BE49-F238E27FC236}">
                <a16:creationId xmlns:a16="http://schemas.microsoft.com/office/drawing/2014/main" id="{9EEBD07C-F142-492A-ADA7-40444EE6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solidFill>
              <a:srgbClr val="16856A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41B6794-86E5-42BF-96A1-F6B2ED69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B00E442-0AFD-4F80-8991-03D426B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95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Approve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5C935C1-6E62-430B-92EA-4E74C687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81425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A"/>
                </a:solidFill>
              </a:defRPr>
            </a:pPr>
            <a:r>
              <a:rPr sz="1200" b="0">
                <a:solidFill>
                  <a:srgbClr val="5C6B7A"/>
                </a:solidFill>
              </a:rPr>
              <a:t>Approve-small / execute-large attempts fail because payload and UI hashes do not match.</a:t>
            </a:r>
          </a:p>
        </p:txBody>
      </p:sp>
      <p:sp>
        <p:nvSpPr>
          <p:cNvPr id="27" name="go-live-gate">
            <a:extLst xmlns:a="http://schemas.openxmlformats.org/drawingml/2006/main">
              <a:ext uri="{FF2B5EF4-FFF2-40B4-BE49-F238E27FC236}">
                <a16:creationId xmlns:a16="http://schemas.microsoft.com/office/drawing/2014/main" id="{DFBD8057-4923-4DE0-979A-F415A379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1066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8" name="circle">
            <a:extLst xmlns:a="http://schemas.openxmlformats.org/drawingml/2006/main">
              <a:ext uri="{FF2B5EF4-FFF2-40B4-BE49-F238E27FC236}">
                <a16:creationId xmlns:a16="http://schemas.microsoft.com/office/drawing/2014/main" id="{DD0818D3-D20B-46C5-87FE-A9168816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02BD49A-8E14-476C-AE9D-FA4FA01C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B80DF27-FDCB-48E6-8A07-E3872433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577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</a:defRPr>
            </a:pPr>
            <a:r>
              <a:rPr sz="1650" b="1">
                <a:solidFill>
                  <a:srgbClr val="102338"/>
                </a:solidFill>
              </a:rPr>
              <a:t>Resist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C0BEF45-9127-4BF7-BBE6-0C090568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4347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A"/>
                </a:solidFill>
              </a:defRPr>
            </a:pPr>
            <a:r>
              <a:rPr sz="1200" b="0">
                <a:solidFill>
                  <a:srgbClr val="5C6B7A"/>
                </a:solidFill>
              </a:rPr>
              <a:t>Known jailbreaks, injection and leakage tests block release in CI/CD.</a:t>
            </a:r>
          </a:p>
        </p:txBody>
      </p:sp>
    </p:spTree>
    <p:extLst>
      <p:ext uri="{BB962C8B-B14F-4D97-AF65-F5344CB8AC3E}">
        <p14:creationId xmlns:p14="http://schemas.microsoft.com/office/powerpoint/2010/main" val="15914995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86A49BD-4274-4648-99BE-14F6BE14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</a:defRPr>
            </a:pPr>
            <a:r>
              <a:rPr sz="1125" b="1">
                <a:solidFill>
                  <a:srgbClr val="6DCBF4"/>
                </a:solidFill>
              </a:rPr>
              <a:t>CLOSING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367A748-3916-4C2E-A6C2-BC4A46B7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Five things to take away</a:t>
            </a:r>
          </a:p>
        </p:txBody>
      </p:sp>
      <p:sp>
        <p:nvSpPr>
          <p:cNvPr id="3" name="circle">
            <a:extLst xmlns:a="http://schemas.openxmlformats.org/drawingml/2006/main">
              <a:ext uri="{FF2B5EF4-FFF2-40B4-BE49-F238E27FC236}">
                <a16:creationId xmlns:a16="http://schemas.microsoft.com/office/drawing/2014/main" id="{28AAEB18-E82B-4965-AD9C-44D9B48A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CE1877-657C-4CCE-9D9E-2A97CDC0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2807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1F9268-7344-49E1-AA4E-3EAAE3F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 PO agent needs the controls of an economic actor, not the controls of a chatbot.</a:t>
            </a:r>
          </a:p>
        </p:txBody>
      </p:sp>
      <p:sp>
        <p:nvSpPr>
          <p:cNvPr id="6" name="circle">
            <a:extLst xmlns:a="http://schemas.openxmlformats.org/drawingml/2006/main">
              <a:ext uri="{FF2B5EF4-FFF2-40B4-BE49-F238E27FC236}">
                <a16:creationId xmlns:a16="http://schemas.microsoft.com/office/drawing/2014/main" id="{D0105187-3F46-4A26-B8CD-DBF0550F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7926F8-F60D-4CF7-9CEB-CE40D8C6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2807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81F302-A450-4792-BBE3-D5BEB4AA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Run IDs and semantic traces make every decision defensible.</a:t>
            </a:r>
          </a:p>
        </p:txBody>
      </p:sp>
      <p:sp>
        <p:nvSpPr>
          <p:cNvPr id="9" name="circle">
            <a:extLst xmlns:a="http://schemas.openxmlformats.org/drawingml/2006/main">
              <a:ext uri="{FF2B5EF4-FFF2-40B4-BE49-F238E27FC236}">
                <a16:creationId xmlns:a16="http://schemas.microsoft.com/office/drawing/2014/main" id="{065CD4EE-7276-4DA4-942E-17A3E820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85E03B6-6E04-47B2-998A-E26E2203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2807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D6E9AFE-B6D4-457A-879A-63E1762B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RAG is a data-security problem before it is a relevance problem.</a:t>
            </a:r>
          </a:p>
        </p:txBody>
      </p:sp>
      <p:sp>
        <p:nvSpPr>
          <p:cNvPr id="12" name="circle">
            <a:extLst xmlns:a="http://schemas.openxmlformats.org/drawingml/2006/main">
              <a:ext uri="{FF2B5EF4-FFF2-40B4-BE49-F238E27FC236}">
                <a16:creationId xmlns:a16="http://schemas.microsoft.com/office/drawing/2014/main" id="{F282FAFA-8D3B-49AB-BD08-0A871129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670572D-B206-48A9-A896-CF94DF07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2807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34F9D61-A1A5-4ADF-941A-7EF657D5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Write autonomy is earned through deterministic policy and cryptographic human approval.</a:t>
            </a:r>
          </a:p>
        </p:txBody>
      </p:sp>
      <p:sp>
        <p:nvSpPr>
          <p:cNvPr id="15" name="circle">
            <a:extLst xmlns:a="http://schemas.openxmlformats.org/drawingml/2006/main">
              <a:ext uri="{FF2B5EF4-FFF2-40B4-BE49-F238E27FC236}">
                <a16:creationId xmlns:a16="http://schemas.microsoft.com/office/drawing/2014/main" id="{8E2D1EEF-E40C-42B9-BDE0-FB2D70EB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A70A58C-2C0D-48A1-959F-CCA28294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2807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0D5BE4A-1B97-47E3-86A3-F6C75B16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Red-team evaluation and rollout gates turn safety into a continuously tested property.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20BBF52-6D73-4FAE-928C-4EB12C93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0A6BE"/>
                </a:solidFill>
              </a:defRPr>
            </a:pPr>
            <a:r>
              <a:rPr sz="825" b="1">
                <a:solidFill>
                  <a:srgbClr val="90A6BE"/>
                </a:solidFill>
              </a:rPr>
              <a:t>PO AGENT GOVERNANCE | CASE STUDY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F6302C1-678B-4EFB-A196-71716DE9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0A6BE"/>
                </a:solidFill>
              </a:defRPr>
            </a:pPr>
            <a:r>
              <a:rPr sz="825" b="1">
                <a:solidFill>
                  <a:srgbClr val="90A6BE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422435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F6C384F-E5FC-4AE2-BDBF-A43CE5E0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DISCUSSION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ED27B6-537C-47F5-93A9-B10A5101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8"/>
                </a:solidFill>
              </a:defRPr>
            </a:pPr>
            <a:r>
              <a:rPr sz="3600" b="1">
                <a:solidFill>
                  <a:srgbClr val="102338"/>
                </a:solidFill>
              </a:rPr>
              <a:t>Questions worth pressure-testing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2EA0F8-9286-47D1-9B70-5EB89C9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Use these prompts to guide the final five minutes or to prepare for follow-up questions.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E9BCF59-F01F-4439-9BDB-A7CE7D67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C496F5-C0BE-4497-8C8D-DFA2AEE8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PO AGENT GOVERNANCE | CASE STUDY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578902-2F65-4B7B-A4F3-B0208DC7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C9C"/>
                </a:solidFill>
              </a:defRPr>
            </a:pPr>
            <a:r>
              <a:rPr sz="825" b="1">
                <a:solidFill>
                  <a:srgbClr val="7B8C9C"/>
                </a:solidFill>
              </a:rPr>
              <a:t>15</a:t>
            </a:r>
          </a:p>
        </p:txBody>
      </p:sp>
      <p:sp>
        <p:nvSpPr>
          <p:cNvPr id="7" name="qa">
            <a:extLst xmlns:a="http://schemas.openxmlformats.org/drawingml/2006/main">
              <a:ext uri="{FF2B5EF4-FFF2-40B4-BE49-F238E27FC236}">
                <a16:creationId xmlns:a16="http://schemas.microsoft.com/office/drawing/2014/main" id="{108B7256-75C2-421C-AF58-B75519D7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5143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41B48B8-FEC4-499B-88F5-6D8DE78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Why not prompt the model to ask first?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05261E2-1FFE-49BD-B74F-EAF9DB10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459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Prompts are probabilistic; before_tool_callback is enforcement.</a:t>
            </a:r>
          </a:p>
        </p:txBody>
      </p:sp>
      <p:sp>
        <p:nvSpPr>
          <p:cNvPr id="10" name="qa">
            <a:extLst xmlns:a="http://schemas.openxmlformats.org/drawingml/2006/main">
              <a:ext uri="{FF2B5EF4-FFF2-40B4-BE49-F238E27FC236}">
                <a16:creationId xmlns:a16="http://schemas.microsoft.com/office/drawing/2014/main" id="{B92FE638-C791-498D-9497-C37A9430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38375"/>
            <a:ext cx="5143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202FD27-443B-48B7-BD89-D88F01FA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66975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Why both Cloud Trace and Datadog?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F83A57-7C2D-4961-8378-D87F15FC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459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8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One OTel instrumentation path; native correlation plus enterprise operations.</a:t>
            </a:r>
          </a:p>
        </p:txBody>
      </p:sp>
      <p:sp>
        <p:nvSpPr>
          <p:cNvPr id="13" name="qa">
            <a:extLst xmlns:a="http://schemas.openxmlformats.org/drawingml/2006/main">
              <a:ext uri="{FF2B5EF4-FFF2-40B4-BE49-F238E27FC236}">
                <a16:creationId xmlns:a16="http://schemas.microsoft.com/office/drawing/2014/main" id="{138E036F-4838-4432-8490-BC914B56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5143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19C506D-5150-4242-BE7C-C791391C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How do we stop injection?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B5065FF-9314-437E-8CE1-628389D9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459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Make injection insufficient: sanitization, RLS, policy breakpoints and signed approvals.</a:t>
            </a:r>
          </a:p>
        </p:txBody>
      </p:sp>
      <p:sp>
        <p:nvSpPr>
          <p:cNvPr id="16" name="qa">
            <a:extLst xmlns:a="http://schemas.openxmlformats.org/drawingml/2006/main">
              <a:ext uri="{FF2B5EF4-FFF2-40B4-BE49-F238E27FC236}">
                <a16:creationId xmlns:a16="http://schemas.microsoft.com/office/drawing/2014/main" id="{2EC67BEB-541E-46D0-8519-739725F9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5143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E535704-D6C9-4BDD-854F-E03FA634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8"/>
                </a:solidFill>
              </a:defRPr>
            </a:pPr>
            <a:r>
              <a:rPr sz="1575" b="1">
                <a:solidFill>
                  <a:srgbClr val="102338"/>
                </a:solidFill>
              </a:rPr>
              <a:t>How does unattended batch remain safe?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4B654FD-0773-4D40-92E8-44CC8474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459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3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A lower autonomy ceiling; it can prepare and park, never self-approve.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BDAD32-7192-465E-A5B2-4BA6724C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The architecture is credible only if it can defend its controls under failure and adversarial pressure.</a:t>
            </a:r>
          </a:p>
        </p:txBody>
      </p:sp>
    </p:spTree>
    <p:extLst>
      <p:ext uri="{BB962C8B-B14F-4D97-AF65-F5344CB8AC3E}">
        <p14:creationId xmlns:p14="http://schemas.microsoft.com/office/powerpoint/2010/main" val="916653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2026-08-21T14:46:32.4860000Z</dcterms:created>
  <dcterms:modified xsi:type="dcterms:W3CDTF">2026-08-21T14:46:32.4860000Z</dcterms:modified>
</coreProperties>
</file>